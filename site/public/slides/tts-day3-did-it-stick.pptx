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93" r:id="rId13"/>
    <p:sldId id="287" r:id="rId14"/>
    <p:sldId id="288" r:id="rId15"/>
    <p:sldId id="289" r:id="rId16"/>
    <p:sldId id="290" r:id="rId17"/>
    <p:sldId id="291" r:id="rId18"/>
    <p:sldId id="292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4200"/>
    <a:srgbClr val="2E741F"/>
    <a:srgbClr val="40A02B"/>
    <a:srgbClr val="FCFEFC"/>
    <a:srgbClr val="EFF1F5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2"/>
    <p:restoredTop sz="60223"/>
  </p:normalViewPr>
  <p:slideViewPr>
    <p:cSldViewPr snapToGrid="0" snapToObjects="1">
      <p:cViewPr>
        <p:scale>
          <a:sx n="98" d="100"/>
          <a:sy n="98" d="100"/>
        </p:scale>
        <p:origin x="60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Last one. Today starts with a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</a:t>
            </a:r>
          </a:p>
          <a:p>
            <a:r>
              <a:t>BUILDS</a:t>
            </a:r>
          </a:p>
          <a:p>
            <a:r>
              <a:t>  1: boxes · 2: Activities done · 3: Day 3 line</a:t>
            </a:r>
          </a:p>
          <a:p>
            <a:r>
              <a:t>SAY</a:t>
            </a:r>
          </a:p>
          <a:p>
            <a:r>
              <a:t>  Today, the top row and the last box. Then the whole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0:00–0:02 (2 min)</a:t>
            </a:r>
          </a:p>
          <a:p>
            <a:r>
              <a:t>SAY</a:t>
            </a:r>
          </a:p>
          <a:p>
            <a:r>
              <a:t>  Expected: the self-testers hold up better over a week (Roediger &amp; Karpicke 2006). Whatever the result:</a:t>
            </a:r>
          </a:p>
          <a:p>
            <a:r>
              <a:t>  'That was spaced retrieval. And how would you KNOW something stuck? That's today.'</a:t>
            </a:r>
          </a:p>
          <a:p>
            <a:r>
              <a:t>FACILITATOR</a:t>
            </a:r>
          </a:p>
          <a:p>
            <a:r>
              <a:t>  Unannounced. Hand out the retest slips. Score 1 per meaning roughly right.</a:t>
            </a:r>
          </a:p>
          <a:p>
            <a:r>
              <a:t>  Tally Group A (re-read) vs Group B (self-test) NEXT TO LAST WEEK'S NUMBERS.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0:02–0:10 (8 min)</a:t>
            </a:r>
          </a:p>
          <a:p>
            <a:r>
              <a:t>WHY</a:t>
            </a:r>
          </a:p>
          <a:p>
            <a:r>
              <a:t>  Closes the Day 2 loop and puts the thing to real use. → /theories/retrieval-practice</a:t>
            </a:r>
          </a:p>
          <a:p>
            <a:r>
              <a:t>FALLBACK</a:t>
            </a:r>
          </a:p>
          <a:p>
            <a:r>
              <a:t>  Tech fails: they read their questions aloud; the room answers on fingers.</a:t>
            </a:r>
          </a:p>
          <a:p>
            <a:r>
              <a:t>FACILITATOR</a:t>
            </a:r>
          </a:p>
          <a:p>
            <a:r>
              <a:t>  2–3 people (asked during the week) run their Menti or Kahoot on the group, 2–3 min each, from their phone or your laptop.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0:10–0:11 (1 min)</a:t>
            </a:r>
          </a:p>
          <a:p>
            <a:r>
              <a:t>ASK</a:t>
            </a:r>
          </a:p>
          <a:p>
            <a:r>
              <a:t>  Take two or three answers (smile sheets will come up). Don't resolve it: the cards will.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0:11–0:17 (6 min)</a:t>
            </a:r>
          </a:p>
          <a:p>
            <a:r>
              <a:t>WHY</a:t>
            </a:r>
          </a:p>
          <a:p>
            <a:r>
              <a:t>  Delivery evidence vs change evidence. → /theories/kirkpatrick-model</a:t>
            </a:r>
          </a:p>
          <a:p>
            <a:r>
              <a:t>FACILITATOR</a:t>
            </a:r>
          </a:p>
          <a:p>
            <a:r>
              <a:t>  One card set and mat per table (Evidence sort printable). Place each card: what does it actually show?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0:17–0:21 (4 min)</a:t>
            </a:r>
          </a:p>
          <a:p>
            <a:r>
              <a:t>BUILDS</a:t>
            </a:r>
          </a:p>
          <a:p>
            <a:r>
              <a:t>  1–4: one step per click (Kirkpatrick level on each) · 5: 'most training stops here' (over Delivered/Produced) · 6: 'what you did today' (over Implemented)</a:t>
            </a:r>
          </a:p>
          <a:p>
            <a:r>
              <a:t>SAY</a:t>
            </a:r>
          </a:p>
          <a:p>
            <a:r>
              <a:t>  Counts show it happened, not that anything changed. L1 has a narrow, real use: the cold room, the venue nobody could find.</a:t>
            </a:r>
          </a:p>
          <a:p>
            <a:r>
              <a:t>  Running what you made on us was USE: Level 3-type evidence, inside the room.</a:t>
            </a:r>
          </a:p>
          <a:p>
            <a:r>
              <a:t>WHY</a:t>
            </a:r>
          </a:p>
          <a:p>
            <a:r>
              <a:t>  Kirkpatrick, and the New World version's point that L3 depends on what happens after training. → /theories/kirkpatrick-model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0:21–0:29 (8 min)</a:t>
            </a:r>
          </a:p>
          <a:p>
            <a:r>
              <a:t>SAY</a:t>
            </a:r>
          </a:p>
          <a:p>
            <a:r>
              <a:t>  Expect laughter at 'be aware of'. It's the pilot's best moment. Let it run.</a:t>
            </a:r>
          </a:p>
          <a:p>
            <a:r>
              <a:t>FACILITATOR</a:t>
            </a:r>
          </a:p>
          <a:p>
            <a:r>
              <a:t>  Each table: verb cards, the yes/no mat and the Miller's pyramid mat (Can you see it? printable).</a:t>
            </a:r>
          </a:p>
          <a:p>
            <a:r>
              <a:t>  No: know, understand, be aware of, appreciate, be familiar with, learn about. Yes: list, explain, justify, choose, calculate, demonstrate, teach back, redesign, escalate, prioritise.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0:29–0:33 (4 min)</a:t>
            </a:r>
          </a:p>
          <a:p>
            <a:r>
              <a:t>BUILDS</a:t>
            </a:r>
          </a:p>
          <a:p>
            <a:r>
              <a:t>  1–4: tiers, bottom to top · 5: 'be aware of' lands BELOW the pyramid</a:t>
            </a:r>
          </a:p>
          <a:p>
            <a:r>
              <a:t>SAY</a:t>
            </a:r>
          </a:p>
          <a:p>
            <a:r>
              <a:t>  The verb picks the level. 'Demonstrates' needs someone to watch. 'Does' means in practice.</a:t>
            </a:r>
          </a:p>
          <a:p>
            <a:r>
              <a:t>  'Be aware of' doesn't even get on the pyramid.</a:t>
            </a:r>
          </a:p>
          <a:p>
            <a:r>
              <a:t>WHY</a:t>
            </a:r>
          </a:p>
          <a:p>
            <a:r>
              <a:t>  Links outcomes straight to evaluation. → /theories/millers-pyramid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0:33–0:53 (20 min)</a:t>
            </a:r>
          </a:p>
          <a:p>
            <a:r>
              <a:t>SAY</a:t>
            </a:r>
          </a:p>
          <a:p>
            <a:r>
              <a:t>  Your session (or one you'd like to teach). Pairs, then 2–3 share.</a:t>
            </a:r>
          </a:p>
          <a:p>
            <a:r>
              <a:t>  Ask the pairs: can you see it? Does the evidence sit at the same level as the verb?</a:t>
            </a:r>
          </a:p>
          <a:p>
            <a:r>
              <a:t>WHY</a:t>
            </a:r>
          </a:p>
          <a:p>
            <a:r>
              <a:t>  Constructive alignment in practice; peer rewrites are the worked examples. → /theories/constructive-alignment</a:t>
            </a:r>
          </a:p>
          <a:p>
            <a:r>
              <a:t>FACILITATOR</a:t>
            </a:r>
          </a:p>
          <a:p>
            <a:r>
              <a:t>  Hand out the design canvas (A4) now if you haven't. Go round: this is the core skill.</a:t>
            </a:r>
          </a:p>
          <a:p>
            <a:r>
              <a:t>IF SHORT</a:t>
            </a:r>
          </a:p>
          <a:p>
            <a:r>
              <a:t>  Never below 15 minutes.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0:53–0:59 (6 min)</a:t>
            </a:r>
          </a:p>
          <a:p>
            <a:r>
              <a:t>BUILDS</a:t>
            </a:r>
          </a:p>
          <a:p>
            <a:r>
              <a:t>  1: Outcome · 2: = Activity · 3: = Evidence · 4: the same performance</a:t>
            </a:r>
          </a:p>
          <a:p>
            <a:r>
              <a:t>SAY</a:t>
            </a:r>
          </a:p>
          <a:p>
            <a:r>
              <a:t>  Put your Day 1 slide and Day 2 activity next to the new outcomes. Does each help learners do the verb? Change what doesn't.</a:t>
            </a:r>
          </a:p>
          <a:p>
            <a:r>
              <a:t>WHY</a:t>
            </a:r>
          </a:p>
          <a:p>
            <a:r>
              <a:t>  Biggs again, now at session scale (Day 1 was slide scale). → /theories/constructive-alignment</a:t>
            </a:r>
          </a:p>
          <a:p>
            <a:r>
              <a:t>IF SHORT</a:t>
            </a:r>
          </a:p>
          <a:p>
            <a:r>
              <a:t>  Halve it; never drop it.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FCC3-0A7B-3BD9-3C88-DC1ADD82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476B30F5-34C4-2E17-23E4-5F1CCBDE2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GB" dirty="0"/>
              <a:t>TIMING</a:t>
            </a:r>
          </a:p>
          <a:p>
            <a:r>
              <a:rPr lang="en-GB" dirty="0"/>
              <a:t>  0:59–1:07 (8 min)</a:t>
            </a:r>
          </a:p>
          <a:p>
            <a:r>
              <a:rPr lang="en-GB" dirty="0"/>
              <a:t>SAY</a:t>
            </a:r>
          </a:p>
          <a:p>
            <a:r>
              <a:rPr lang="en-GB" dirty="0"/>
              <a:t>  Forgetting is the default. What will YOUR learners revisit at 30, 60 and 90 days, and how (a Kahoot, an email, a team message)?</a:t>
            </a:r>
          </a:p>
          <a:p>
            <a:r>
              <a:rPr lang="en-GB" dirty="0"/>
              <a:t>  Who will ask YOU about this at 30 days? Write their name.</a:t>
            </a:r>
          </a:p>
          <a:p>
            <a:r>
              <a:rPr lang="en-GB" dirty="0"/>
              <a:t>  (The named person (i.e. manager) also would need to facilitate time, release, support etc. not just accountability, it’s </a:t>
            </a:r>
            <a:r>
              <a:rPr lang="en-GB" b="1" dirty="0"/>
              <a:t>reducing barriers</a:t>
            </a:r>
            <a:r>
              <a:rPr lang="en-GB" dirty="0"/>
              <a:t>)</a:t>
            </a:r>
          </a:p>
          <a:p>
            <a:r>
              <a:rPr lang="en-GB" dirty="0"/>
              <a:t>WHY</a:t>
            </a:r>
          </a:p>
          <a:p>
            <a:r>
              <a:rPr lang="en-GB" dirty="0"/>
              <a:t>  Transfer depends on the work environment as much as the training (Baldwin &amp; Ford 1988). The programme can't hold this loop after it ends. → /theories/spaced-practice</a:t>
            </a:r>
          </a:p>
        </p:txBody>
      </p:sp>
    </p:spTree>
    <p:extLst>
      <p:ext uri="{BB962C8B-B14F-4D97-AF65-F5344CB8AC3E}">
        <p14:creationId xmlns:p14="http://schemas.microsoft.com/office/powerpoint/2010/main" val="597442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0:59–1:07 (8 min)</a:t>
            </a:r>
          </a:p>
          <a:p>
            <a:r>
              <a:rPr dirty="0"/>
              <a:t>SAY</a:t>
            </a:r>
          </a:p>
          <a:p>
            <a:r>
              <a:rPr dirty="0"/>
              <a:t>  Forgetting is the default. What will YOUR learners revisit at 30, 60 and 90 days, and how (a Kahoot, an email, a team message)?</a:t>
            </a:r>
          </a:p>
          <a:p>
            <a:r>
              <a:rPr dirty="0"/>
              <a:t>  Who will ask YOU about this at 30 days? Write their name.</a:t>
            </a:r>
          </a:p>
          <a:p>
            <a:r>
              <a:rPr dirty="0"/>
              <a:t>WHY</a:t>
            </a:r>
          </a:p>
          <a:p>
            <a:r>
              <a:rPr dirty="0"/>
              <a:t>  Transfer depends on the work environment as much as the training (Baldwin &amp; Ford 1988). The </a:t>
            </a:r>
            <a:r>
              <a:rPr dirty="0" err="1"/>
              <a:t>programme</a:t>
            </a:r>
            <a:r>
              <a:rPr dirty="0"/>
              <a:t> can't hold this loop after it ends. → /theories/spaced-practice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1:07</a:t>
            </a:r>
          </a:p>
          <a:p>
            <a:r>
              <a:t>SAY</a:t>
            </a:r>
          </a:p>
          <a:p>
            <a:r>
              <a:t>  Pause. Then click on. The reveal is PROTECTED: never cut 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1:07–1:12 (5 min)</a:t>
            </a:r>
          </a:p>
          <a:p>
            <a:r>
              <a:t>BUILDS</a:t>
            </a:r>
          </a:p>
          <a:p>
            <a:r>
              <a:t>  one box per click, in canvas order</a:t>
            </a:r>
          </a:p>
          <a:p>
            <a:r>
              <a:t>SAY</a:t>
            </a:r>
          </a:p>
          <a:p>
            <a:r>
              <a:t>  Read each box briefly; point to where they experienced it: 'that was the bad slide', 'that was the blorps'.</a:t>
            </a:r>
          </a:p>
          <a:p>
            <a:r>
              <a:t>  Detail if asked: Learners: anyone in health and care who teaches, or would like to; 3 x 90 min, a week apart. Need: dense slides, 'be aware of' outcomes, commitments nobody follows up. Outcomes: redesign a slide; make ten minutes active with a named strategy; write observable outcomes with matching evidence; plan follow-through with a named person. Evidence: redesigned slides shown on Day 2, the Day 2 Kahoot, what you made run on us, your canvas, the 30/90-day check. Follow-through: an ask on a card each week, read back; a week's spacing; your named person at 30 days.</a:t>
            </a:r>
          </a:p>
          <a:p>
            <a:r>
              <a:t>WHY</a:t>
            </a:r>
          </a:p>
          <a:p>
            <a:r>
              <a:t>  Making the hidden design visible: the programme is the final worked example.</a:t>
            </a:r>
          </a:p>
          <a:p>
            <a:r>
              <a:t>IF SHORT</a:t>
            </a:r>
          </a:p>
          <a:p>
            <a:r>
              <a:t>  PROTECTED. Never cut.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1:12–1:13 (1 min)</a:t>
            </a:r>
          </a:p>
          <a:p>
            <a:r>
              <a:t>SAY</a:t>
            </a:r>
          </a:p>
          <a:p>
            <a:r>
              <a:t>  That was the question on Day 1. You've just answered it for your own session.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1:13–1:20 (7 min)</a:t>
            </a:r>
          </a:p>
          <a:p>
            <a:r>
              <a:rPr dirty="0"/>
              <a:t>WHY</a:t>
            </a:r>
          </a:p>
          <a:p>
            <a:r>
              <a:rPr dirty="0"/>
              <a:t>  A commitment with a follow-through loop built in.</a:t>
            </a:r>
            <a:endParaRPr lang="en-GB" dirty="0"/>
          </a:p>
          <a:p>
            <a:r>
              <a:rPr dirty="0"/>
              <a:t>FACILITATOR</a:t>
            </a:r>
          </a:p>
          <a:p>
            <a:r>
              <a:rPr dirty="0"/>
              <a:t>  Hand out a clean design canvas. This replaces an ask card. It's also portfolio evidence (E3) → /facilitator/portfolio-mapping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1:20–1:26 (6 min)</a:t>
            </a:r>
          </a:p>
          <a:p>
            <a:r>
              <a:t>SAY</a:t>
            </a:r>
          </a:p>
          <a:p>
            <a:r>
              <a:t>  Everyone, aloud.</a:t>
            </a:r>
          </a:p>
          <a:p>
            <a:r>
              <a:t>WHY</a:t>
            </a:r>
          </a:p>
          <a:p>
            <a:r>
              <a:t>  A light public commitment; ends on the individual change, not the event.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1:26–1:30</a:t>
            </a:r>
          </a:p>
          <a:p>
            <a:r>
              <a:t>SAY</a:t>
            </a:r>
          </a:p>
          <a:p>
            <a:r>
              <a:t>  Thank you. Your named person will ask; so will we, at 30 and 90 days.</a:t>
            </a:r>
          </a:p>
          <a:p>
            <a:r>
              <a:t>FACILITATOR</a:t>
            </a:r>
          </a:p>
          <a:p>
            <a:r>
              <a:t>  Hand out the paper feedback form as people leave (Evaluation Toolkit, six questions).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eaching-that-sticks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Did It Stick?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Day 3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4445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Days 1–2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Day 3: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outcomes → evidence → follow-through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 · 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then the whole canvas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 i="1" dirty="0" err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Same as last week.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what you made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54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200" b="1" dirty="0">
                <a:solidFill>
                  <a:srgbClr val="4C4F69"/>
                </a:solidFill>
                <a:latin typeface="Aptos"/>
              </a:rPr>
              <a:t>Run it on us</a:t>
            </a:r>
            <a:r>
              <a:rPr lang="en-GB" sz="3200" b="1" dirty="0">
                <a:solidFill>
                  <a:srgbClr val="4C4F69"/>
                </a:solidFill>
                <a:latin typeface="Aptos"/>
              </a:rPr>
              <a:t>!</a:t>
            </a:r>
            <a:endParaRPr sz="32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54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make one?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What got in the way?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2323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How would you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i="1" dirty="0">
                <a:solidFill>
                  <a:srgbClr val="B24101"/>
                </a:solidFill>
                <a:latin typeface="Georgia"/>
              </a:rPr>
              <a:t>know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it stuck?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Sort the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Produced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Implemented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46020"/>
            <a:ext cx="32004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8" y="2446020"/>
            <a:ext cx="320041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36" y="2446020"/>
            <a:ext cx="320043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" y="3771901"/>
            <a:ext cx="1069848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 dirty="0">
                <a:solidFill>
                  <a:srgbClr val="B24101"/>
                </a:solidFill>
                <a:latin typeface="Aptos"/>
              </a:rPr>
              <a:t>⏱ 6 min</a:t>
            </a:r>
            <a:r>
              <a:rPr sz="2800" b="0" dirty="0">
                <a:solidFill>
                  <a:srgbClr val="4C4F69"/>
                </a:solidFill>
                <a:latin typeface="Aptos"/>
              </a:rPr>
              <a:t>  one card set per table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Delivered ≠ changed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2976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 dirty="0">
                <a:solidFill>
                  <a:srgbClr val="4C4F69"/>
                </a:solidFill>
                <a:latin typeface="Aptos"/>
              </a:rPr>
              <a:t>Delivered</a:t>
            </a:r>
          </a:p>
          <a:p>
            <a:pPr algn="ctr"/>
            <a:r>
              <a:rPr sz="2200" b="1" dirty="0">
                <a:solidFill>
                  <a:srgbClr val="314FFC"/>
                </a:solidFill>
                <a:latin typeface="Aptos"/>
              </a:rPr>
              <a:t>L1 </a:t>
            </a:r>
            <a:r>
              <a:rPr lang="en-GB" sz="2200" b="1" dirty="0">
                <a:solidFill>
                  <a:srgbClr val="314FFC"/>
                </a:solidFill>
                <a:latin typeface="Aptos"/>
              </a:rPr>
              <a:t>(</a:t>
            </a:r>
            <a:r>
              <a:rPr sz="2200" b="1" dirty="0">
                <a:solidFill>
                  <a:srgbClr val="314FFC"/>
                </a:solidFill>
                <a:latin typeface="Aptos"/>
              </a:rPr>
              <a:t>at best</a:t>
            </a:r>
            <a:r>
              <a:rPr lang="en-GB" sz="2200" b="1" dirty="0">
                <a:solidFill>
                  <a:srgbClr val="314FFC"/>
                </a:solidFill>
                <a:latin typeface="Aptos"/>
              </a:rPr>
              <a:t>)</a:t>
            </a:r>
            <a:endParaRPr sz="2200" b="1" dirty="0">
              <a:solidFill>
                <a:srgbClr val="314FFC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3520440"/>
            <a:ext cx="2560320" cy="16916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Produced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2560320" cy="2468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Implemented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965960"/>
            <a:ext cx="2560320" cy="32461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Impact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88855"/>
            <a:ext cx="2560320" cy="1292662"/>
          </a:xfrm>
          <a:prstGeom prst="rect">
            <a:avLst/>
          </a:prstGeom>
          <a:noFill/>
        </p:spPr>
        <p:txBody>
          <a:bodyPr wrap="square" lIns="73152" rIns="73152" anchor="b">
            <a:spAutoFit/>
          </a:bodyPr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most training</a:t>
            </a:r>
            <a:endParaRPr lang="en-GB" sz="26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stops here</a:t>
            </a:r>
            <a:endParaRPr lang="en-GB" sz="26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600" b="1" dirty="0">
                <a:solidFill>
                  <a:srgbClr val="B24101"/>
                </a:solidFill>
                <a:latin typeface="Aptos"/>
              </a:rPr>
              <a:t>↓ </a:t>
            </a:r>
            <a:endParaRPr sz="2600" b="1" dirty="0">
              <a:solidFill>
                <a:srgbClr val="B2410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1434375"/>
            <a:ext cx="2560320" cy="1292662"/>
          </a:xfrm>
          <a:prstGeom prst="rect">
            <a:avLst/>
          </a:prstGeom>
          <a:noFill/>
        </p:spPr>
        <p:txBody>
          <a:bodyPr wrap="square" lIns="73152" rIns="73152" anchor="b">
            <a:spAutoFit/>
          </a:bodyPr>
          <a:lstStyle/>
          <a:p>
            <a:pPr algn="ctr"/>
            <a:r>
              <a:rPr sz="2600" b="1" dirty="0">
                <a:solidFill>
                  <a:srgbClr val="2E741F"/>
                </a:solidFill>
                <a:latin typeface="Aptos"/>
              </a:rPr>
              <a:t>what you</a:t>
            </a:r>
            <a:endParaRPr lang="en-GB" sz="2600" b="1" dirty="0">
              <a:solidFill>
                <a:srgbClr val="2E741F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2E741F"/>
                </a:solidFill>
                <a:latin typeface="Aptos"/>
              </a:rPr>
              <a:t>did today</a:t>
            </a:r>
            <a:endParaRPr lang="en-GB" sz="2600" b="1" dirty="0">
              <a:solidFill>
                <a:srgbClr val="2E741F"/>
              </a:solidFill>
              <a:latin typeface="Aptos"/>
            </a:endParaRPr>
          </a:p>
          <a:p>
            <a:pPr algn="ctr"/>
            <a:r>
              <a:rPr lang="en-GB" sz="2600" b="1" dirty="0">
                <a:solidFill>
                  <a:srgbClr val="2E741F"/>
                </a:solidFill>
                <a:latin typeface="Aptos"/>
              </a:rPr>
              <a:t>↓ </a:t>
            </a:r>
            <a:endParaRPr sz="2600" b="1" dirty="0">
              <a:solidFill>
                <a:srgbClr val="2E741F"/>
              </a:solidFill>
              <a:latin typeface="Apto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Can you see 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9738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4400" b="1" dirty="0">
                <a:solidFill>
                  <a:srgbClr val="2E741F"/>
                </a:solidFill>
                <a:latin typeface="Aptos"/>
              </a:rPr>
              <a:t>✓ Yes</a:t>
            </a:r>
          </a:p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I could watch someone do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9738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4400" b="1">
                <a:solidFill>
                  <a:srgbClr val="CB0E37"/>
                </a:solidFill>
                <a:latin typeface="Aptos"/>
              </a:rPr>
              <a:t>✗ No</a:t>
            </a:r>
          </a:p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 couldn't see it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37660"/>
            <a:ext cx="9966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4C4F69"/>
                </a:solidFill>
                <a:latin typeface="Aptos"/>
              </a:rPr>
              <a:t>Then: put the “yes” verbs on the pyramid.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77740"/>
            <a:ext cx="99669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8 min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Your verb decides your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6576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>
                <a:solidFill>
                  <a:srgbClr val="314FFC"/>
                </a:solidFill>
                <a:latin typeface="Aptos"/>
              </a:rPr>
              <a:t>Miller, 1990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047" y="4343400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Knows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 about</a:t>
            </a:r>
            <a:endParaRPr sz="24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04007" y="3474720"/>
            <a:ext cx="658368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Knows 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h</a:t>
            </a:r>
            <a:r>
              <a:rPr sz="2400" b="1" dirty="0">
                <a:solidFill>
                  <a:srgbClr val="4C4F69"/>
                </a:solidFill>
                <a:latin typeface="Aptos"/>
              </a:rPr>
              <a:t>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26967" y="260604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Shows 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h</a:t>
            </a:r>
            <a:r>
              <a:rPr sz="2400" b="1" dirty="0">
                <a:solidFill>
                  <a:srgbClr val="4C4F69"/>
                </a:solidFill>
                <a:latin typeface="Aptos"/>
              </a:rPr>
              <a:t>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1737360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4C4F69"/>
                </a:solidFill>
                <a:latin typeface="Aptos"/>
              </a:rPr>
              <a:t>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212080"/>
            <a:ext cx="63093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“be aware of”</a:t>
            </a:r>
            <a:r>
              <a:rPr sz="2200" b="0">
                <a:solidFill>
                  <a:srgbClr val="4C4F69"/>
                </a:solidFill>
                <a:latin typeface="Aptos"/>
              </a:rPr>
              <a:t>: can't see it, can't evidence it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Rewrite your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One to three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A verb you can see</a:t>
            </a:r>
            <a:r>
              <a:rPr lang="en-GB" sz="2600" b="1" dirty="0">
                <a:solidFill>
                  <a:srgbClr val="4C4F69"/>
                </a:solidFill>
                <a:latin typeface="Aptos"/>
              </a:rPr>
              <a:t> the results of</a:t>
            </a:r>
            <a:endParaRPr sz="26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The evidence</a:t>
            </a:r>
            <a:endParaRPr lang="en-GB" sz="26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for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pairs · on your canvas: Outcomes and Evidence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Does it line up?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602021"/>
            <a:ext cx="731520" cy="83099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0" dirty="0">
                <a:solidFill>
                  <a:srgbClr val="4C4F69"/>
                </a:solidFill>
                <a:latin typeface="Aptos"/>
              </a:rPr>
              <a:t>=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602021"/>
            <a:ext cx="731520" cy="83099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0" dirty="0">
                <a:solidFill>
                  <a:srgbClr val="4C4F69"/>
                </a:solidFill>
                <a:latin typeface="Aptos"/>
              </a:rPr>
              <a:t>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78992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en-GB" sz="3200" b="0" dirty="0">
                <a:solidFill>
                  <a:srgbClr val="4C4F69"/>
                </a:solidFill>
                <a:latin typeface="Aptos"/>
              </a:rPr>
              <a:t>Alignment =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the same </a:t>
            </a:r>
            <a:r>
              <a:rPr sz="3200" b="1" dirty="0">
                <a:solidFill>
                  <a:srgbClr val="B24101"/>
                </a:solidFill>
                <a:latin typeface="Aptos"/>
              </a:rPr>
              <a:t>performance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DF54E-99CC-6B1D-0E55-1B3EECAA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A37856-5659-0863-5324-50D3687C2767}"/>
              </a:ext>
            </a:extLst>
          </p:cNvPr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4400" b="1" dirty="0">
                <a:solidFill>
                  <a:srgbClr val="4C4F69"/>
                </a:solidFill>
                <a:latin typeface="Georgia"/>
              </a:rPr>
              <a:t>Follow-through plan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E19DAE-D896-CA04-1F52-6A930E1B1EDF}"/>
              </a:ext>
            </a:extLst>
          </p:cNvPr>
          <p:cNvSpPr/>
          <p:nvPr/>
        </p:nvSpPr>
        <p:spPr>
          <a:xfrm>
            <a:off x="73152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30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7FD3D3-A69A-F6CF-C53C-2EA85DBD6831}"/>
              </a:ext>
            </a:extLst>
          </p:cNvPr>
          <p:cNvSpPr/>
          <p:nvPr/>
        </p:nvSpPr>
        <p:spPr>
          <a:xfrm>
            <a:off x="457200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60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221D3C-E02B-AE06-384B-E55E2C50A90B}"/>
              </a:ext>
            </a:extLst>
          </p:cNvPr>
          <p:cNvSpPr/>
          <p:nvPr/>
        </p:nvSpPr>
        <p:spPr>
          <a:xfrm>
            <a:off x="841248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90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9ABB8-711C-7B36-5804-D7EF9C3A2D71}"/>
              </a:ext>
            </a:extLst>
          </p:cNvPr>
          <p:cNvSpPr txBox="1"/>
          <p:nvPr/>
        </p:nvSpPr>
        <p:spPr>
          <a:xfrm>
            <a:off x="731520" y="4206240"/>
            <a:ext cx="1078992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en-GB" sz="3200" b="0" dirty="0">
                <a:solidFill>
                  <a:srgbClr val="4C4F69"/>
                </a:solidFill>
                <a:latin typeface="Aptos"/>
              </a:rPr>
              <a:t>Who will hold you to it? And what do you need from them?</a:t>
            </a:r>
            <a:endParaRPr sz="32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8B548-AB3A-1DFB-13E4-FE94AF534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B94E36-B633-453A-52D2-0B40648DF1F1}"/>
              </a:ext>
            </a:extLst>
          </p:cNvPr>
          <p:cNvSpPr txBox="1"/>
          <p:nvPr/>
        </p:nvSpPr>
        <p:spPr>
          <a:xfrm>
            <a:off x="731520" y="4945559"/>
            <a:ext cx="10698480" cy="49244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dirty="0">
                <a:solidFill>
                  <a:srgbClr val="B24101"/>
                </a:solidFill>
                <a:latin typeface="Aptos"/>
              </a:rPr>
              <a:t>⏱ 8 min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 </a:t>
            </a:r>
            <a:r>
              <a:rPr lang="en-GB" sz="2600" b="0" dirty="0">
                <a:solidFill>
                  <a:srgbClr val="4C4F69"/>
                </a:solidFill>
                <a:latin typeface="Aptos"/>
              </a:rPr>
              <a:t>to complete, and 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write their name in the Follow-through box</a:t>
            </a:r>
          </a:p>
        </p:txBody>
      </p:sp>
    </p:spTree>
    <p:extLst>
      <p:ext uri="{BB962C8B-B14F-4D97-AF65-F5344CB8AC3E}">
        <p14:creationId xmlns:p14="http://schemas.microsoft.com/office/powerpoint/2010/main" val="32555104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Follow-through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30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60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4C4F69"/>
                </a:solidFill>
                <a:latin typeface="Georgia"/>
              </a:rPr>
              <a:t>Who will ask </a:t>
            </a:r>
            <a:r>
              <a:rPr sz="4000" b="1" i="1" dirty="0">
                <a:solidFill>
                  <a:srgbClr val="4C4F69"/>
                </a:solidFill>
                <a:latin typeface="Georgia"/>
              </a:rPr>
              <a:t>you</a:t>
            </a:r>
            <a:r>
              <a:rPr sz="4000" b="1" dirty="0">
                <a:solidFill>
                  <a:srgbClr val="4C4F69"/>
                </a:solidFill>
                <a:latin typeface="Georgia"/>
              </a:rPr>
              <a:t> about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dirty="0">
                <a:solidFill>
                  <a:srgbClr val="B24101"/>
                </a:solidFill>
                <a:latin typeface="Aptos"/>
              </a:rPr>
              <a:t>⏱ 8 min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 write their name in the Follow-through box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2323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You've been on a canvas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for </a:t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three weeks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Here's 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Learners &amp; context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Anyone who teaches,</a:t>
            </a:r>
            <a:endParaRPr lang="en-GB" sz="2200" b="0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or would like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Need</a:t>
            </a:r>
          </a:p>
          <a:p>
            <a:pPr algn="ctr"/>
            <a:r>
              <a:rPr lang="en-GB" sz="2200" dirty="0">
                <a:solidFill>
                  <a:srgbClr val="4C4F69"/>
                </a:solidFill>
                <a:latin typeface="Aptos"/>
              </a:rPr>
              <a:t>T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eaching is happening, accidental good practice</a:t>
            </a:r>
            <a:endParaRPr sz="2200" b="0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244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Outcomes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Cut the noise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more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active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outcomes you can see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Evidence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Your slides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and creations,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your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completed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Bad slide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s,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redesigns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</a:t>
            </a:r>
            <a:r>
              <a:rPr lang="en-GB" sz="2200" b="0" dirty="0" err="1">
                <a:solidFill>
                  <a:srgbClr val="4C4F69"/>
                </a:solidFill>
                <a:latin typeface="Aptos"/>
              </a:rPr>
              <a:t>blorps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card sorts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Follow-through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An ask each week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your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'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named person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'</a:t>
            </a:r>
            <a:endParaRPr sz="2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Your commitment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97380"/>
            <a:ext cx="106984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 dirty="0">
                <a:solidFill>
                  <a:srgbClr val="4C4F69"/>
                </a:solidFill>
                <a:latin typeface="Georgia"/>
              </a:rPr>
              <a:t>Copy your canvas onto one clean page.</a:t>
            </a:r>
          </a:p>
          <a:p>
            <a:pPr algn="ctr"/>
            <a:r>
              <a:rPr lang="en-GB" sz="3200" b="1" dirty="0">
                <a:solidFill>
                  <a:srgbClr val="B24101"/>
                </a:solidFill>
                <a:latin typeface="Georgia"/>
              </a:rPr>
              <a:t>Your named person can </a:t>
            </a:r>
            <a:r>
              <a:rPr lang="en-GB" sz="3200" b="1" i="1" dirty="0">
                <a:solidFill>
                  <a:srgbClr val="B24101"/>
                </a:solidFill>
                <a:latin typeface="Georgia"/>
              </a:rPr>
              <a:t>hold you to it,</a:t>
            </a:r>
          </a:p>
          <a:p>
            <a:pPr algn="ctr"/>
            <a:r>
              <a:rPr lang="en-GB" sz="3200" b="1" dirty="0">
                <a:solidFill>
                  <a:srgbClr val="B24101"/>
                </a:solidFill>
                <a:latin typeface="Georgia"/>
              </a:rPr>
              <a:t>if they provide the </a:t>
            </a:r>
            <a:r>
              <a:rPr lang="en-GB" sz="3200" b="1" i="1" dirty="0">
                <a:solidFill>
                  <a:srgbClr val="B24101"/>
                </a:solidFill>
                <a:latin typeface="Georgia"/>
              </a:rPr>
              <a:t>support you need</a:t>
            </a:r>
            <a:r>
              <a:rPr lang="en-GB" sz="3200" b="1" dirty="0">
                <a:solidFill>
                  <a:srgbClr val="B24101"/>
                </a:solidFill>
                <a:latin typeface="Georgia"/>
              </a:rPr>
              <a:t>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The one thing I'll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 is…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Keep in touch: the website has everything.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Sticks, CC BY 4.0</a:t>
            </a:r>
          </a:p>
          <a:p>
            <a:endParaRPr sz="1600"/>
          </a:p>
          <a:p>
            <a:r>
              <a:rPr sz="1600"/>
              <a:t>Theory library: teaching-that-sticks.github.io/theories</a:t>
            </a:r>
          </a:p>
          <a:p>
            <a:r>
              <a:rPr sz="1600"/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1831</Words>
  <Application>Microsoft Macintosh PowerPoint</Application>
  <PresentationFormat>Widescreen</PresentationFormat>
  <Paragraphs>257</Paragraphs>
  <Slides>20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Robinson, Adrian J</cp:lastModifiedBy>
  <cp:revision>80</cp:revision>
  <dcterms:created xsi:type="dcterms:W3CDTF">2013-01-27T09:14:16Z</dcterms:created>
  <dcterms:modified xsi:type="dcterms:W3CDTF">2026-10-02T22:08:06Z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