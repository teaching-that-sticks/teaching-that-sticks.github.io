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0A02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095"/>
    <p:restoredTop sz="94637"/>
  </p:normalViewPr>
  <p:slideViewPr>
    <p:cSldViewPr snapToGrid="0">
      <p:cViewPr>
        <p:scale>
          <a:sx n="296" d="100"/>
          <a:sy n="296" d="100"/>
        </p:scale>
        <p:origin x="144" y="-63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2C27E-6066-CCB1-7699-FCE5515BD5FD}"/>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1903B3C4-D445-851D-F684-75FD628AAA8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AC2AAE74-9028-5BE7-42C5-C457174F8D2E}"/>
              </a:ext>
            </a:extLst>
          </p:cNvPr>
          <p:cNvSpPr>
            <a:spLocks noGrp="1"/>
          </p:cNvSpPr>
          <p:nvPr>
            <p:ph type="dt" sz="half" idx="10"/>
          </p:nvPr>
        </p:nvSpPr>
        <p:spPr/>
        <p:txBody>
          <a:bodyPr/>
          <a:lstStyle/>
          <a:p>
            <a:fld id="{4FBCFDA2-3EA7-A344-BFC6-DD5437D8CC40}" type="datetimeFigureOut">
              <a:rPr lang="en-GB" smtClean="0"/>
              <a:t>23/05/2026</a:t>
            </a:fld>
            <a:endParaRPr lang="en-GB"/>
          </a:p>
        </p:txBody>
      </p:sp>
      <p:sp>
        <p:nvSpPr>
          <p:cNvPr id="5" name="Footer Placeholder 4">
            <a:extLst>
              <a:ext uri="{FF2B5EF4-FFF2-40B4-BE49-F238E27FC236}">
                <a16:creationId xmlns:a16="http://schemas.microsoft.com/office/drawing/2014/main" id="{EC64615B-0747-600B-0B99-D57DE592314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0311807-9E91-9F77-44CE-266D97C4EB88}"/>
              </a:ext>
            </a:extLst>
          </p:cNvPr>
          <p:cNvSpPr>
            <a:spLocks noGrp="1"/>
          </p:cNvSpPr>
          <p:nvPr>
            <p:ph type="sldNum" sz="quarter" idx="12"/>
          </p:nvPr>
        </p:nvSpPr>
        <p:spPr/>
        <p:txBody>
          <a:bodyPr/>
          <a:lstStyle/>
          <a:p>
            <a:fld id="{A8CBCD43-23D2-F245-A5D3-EFE7B0EC3060}" type="slidenum">
              <a:rPr lang="en-GB" smtClean="0"/>
              <a:t>‹#›</a:t>
            </a:fld>
            <a:endParaRPr lang="en-GB"/>
          </a:p>
        </p:txBody>
      </p:sp>
    </p:spTree>
    <p:extLst>
      <p:ext uri="{BB962C8B-B14F-4D97-AF65-F5344CB8AC3E}">
        <p14:creationId xmlns:p14="http://schemas.microsoft.com/office/powerpoint/2010/main" val="12896918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99735-6301-0120-2608-357842E9EF3B}"/>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78B077F6-880D-7351-7E38-E3D125018E83}"/>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3FDDEE81-E33B-9CE6-38C7-0EA2312C57A7}"/>
              </a:ext>
            </a:extLst>
          </p:cNvPr>
          <p:cNvSpPr>
            <a:spLocks noGrp="1"/>
          </p:cNvSpPr>
          <p:nvPr>
            <p:ph type="dt" sz="half" idx="10"/>
          </p:nvPr>
        </p:nvSpPr>
        <p:spPr/>
        <p:txBody>
          <a:bodyPr/>
          <a:lstStyle/>
          <a:p>
            <a:fld id="{4FBCFDA2-3EA7-A344-BFC6-DD5437D8CC40}" type="datetimeFigureOut">
              <a:rPr lang="en-GB" smtClean="0"/>
              <a:t>23/05/2026</a:t>
            </a:fld>
            <a:endParaRPr lang="en-GB"/>
          </a:p>
        </p:txBody>
      </p:sp>
      <p:sp>
        <p:nvSpPr>
          <p:cNvPr id="5" name="Footer Placeholder 4">
            <a:extLst>
              <a:ext uri="{FF2B5EF4-FFF2-40B4-BE49-F238E27FC236}">
                <a16:creationId xmlns:a16="http://schemas.microsoft.com/office/drawing/2014/main" id="{6F0DA240-9DFF-F610-DC2B-4BE9E84CC91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F7C737A-9770-91CF-6C99-72970F33761A}"/>
              </a:ext>
            </a:extLst>
          </p:cNvPr>
          <p:cNvSpPr>
            <a:spLocks noGrp="1"/>
          </p:cNvSpPr>
          <p:nvPr>
            <p:ph type="sldNum" sz="quarter" idx="12"/>
          </p:nvPr>
        </p:nvSpPr>
        <p:spPr/>
        <p:txBody>
          <a:bodyPr/>
          <a:lstStyle/>
          <a:p>
            <a:fld id="{A8CBCD43-23D2-F245-A5D3-EFE7B0EC3060}" type="slidenum">
              <a:rPr lang="en-GB" smtClean="0"/>
              <a:t>‹#›</a:t>
            </a:fld>
            <a:endParaRPr lang="en-GB"/>
          </a:p>
        </p:txBody>
      </p:sp>
    </p:spTree>
    <p:extLst>
      <p:ext uri="{BB962C8B-B14F-4D97-AF65-F5344CB8AC3E}">
        <p14:creationId xmlns:p14="http://schemas.microsoft.com/office/powerpoint/2010/main" val="27786741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CF292-C64B-0402-9B4A-BE76A8E5CC7C}"/>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51DC940D-01A4-A9A1-F152-8DA322A9909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986DAB54-A8DA-8357-F146-85E87435E536}"/>
              </a:ext>
            </a:extLst>
          </p:cNvPr>
          <p:cNvSpPr>
            <a:spLocks noGrp="1"/>
          </p:cNvSpPr>
          <p:nvPr>
            <p:ph type="dt" sz="half" idx="10"/>
          </p:nvPr>
        </p:nvSpPr>
        <p:spPr/>
        <p:txBody>
          <a:bodyPr/>
          <a:lstStyle/>
          <a:p>
            <a:fld id="{4FBCFDA2-3EA7-A344-BFC6-DD5437D8CC40}" type="datetimeFigureOut">
              <a:rPr lang="en-GB" smtClean="0"/>
              <a:t>23/05/2026</a:t>
            </a:fld>
            <a:endParaRPr lang="en-GB"/>
          </a:p>
        </p:txBody>
      </p:sp>
      <p:sp>
        <p:nvSpPr>
          <p:cNvPr id="5" name="Footer Placeholder 4">
            <a:extLst>
              <a:ext uri="{FF2B5EF4-FFF2-40B4-BE49-F238E27FC236}">
                <a16:creationId xmlns:a16="http://schemas.microsoft.com/office/drawing/2014/main" id="{E83FBC51-013B-4305-54C0-2F52FEE8D23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4CC4DB2-842A-627E-F06C-6E7FD33A1EF1}"/>
              </a:ext>
            </a:extLst>
          </p:cNvPr>
          <p:cNvSpPr>
            <a:spLocks noGrp="1"/>
          </p:cNvSpPr>
          <p:nvPr>
            <p:ph type="sldNum" sz="quarter" idx="12"/>
          </p:nvPr>
        </p:nvSpPr>
        <p:spPr/>
        <p:txBody>
          <a:bodyPr/>
          <a:lstStyle/>
          <a:p>
            <a:fld id="{A8CBCD43-23D2-F245-A5D3-EFE7B0EC3060}" type="slidenum">
              <a:rPr lang="en-GB" smtClean="0"/>
              <a:t>‹#›</a:t>
            </a:fld>
            <a:endParaRPr lang="en-GB"/>
          </a:p>
        </p:txBody>
      </p:sp>
    </p:spTree>
    <p:extLst>
      <p:ext uri="{BB962C8B-B14F-4D97-AF65-F5344CB8AC3E}">
        <p14:creationId xmlns:p14="http://schemas.microsoft.com/office/powerpoint/2010/main" val="13683844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A77AB-824D-76FA-F29A-860D5C274F75}"/>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F180DF17-34C7-625E-F21B-9850F201E345}"/>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877BF386-351E-76CF-9176-F957C79CFF7C}"/>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5CECB8DD-94A7-E894-33EC-D6E65FB6C1D9}"/>
              </a:ext>
            </a:extLst>
          </p:cNvPr>
          <p:cNvSpPr>
            <a:spLocks noGrp="1"/>
          </p:cNvSpPr>
          <p:nvPr>
            <p:ph type="dt" sz="half" idx="10"/>
          </p:nvPr>
        </p:nvSpPr>
        <p:spPr/>
        <p:txBody>
          <a:bodyPr/>
          <a:lstStyle/>
          <a:p>
            <a:fld id="{4FBCFDA2-3EA7-A344-BFC6-DD5437D8CC40}" type="datetimeFigureOut">
              <a:rPr lang="en-GB" smtClean="0"/>
              <a:t>23/05/2026</a:t>
            </a:fld>
            <a:endParaRPr lang="en-GB"/>
          </a:p>
        </p:txBody>
      </p:sp>
      <p:sp>
        <p:nvSpPr>
          <p:cNvPr id="6" name="Footer Placeholder 5">
            <a:extLst>
              <a:ext uri="{FF2B5EF4-FFF2-40B4-BE49-F238E27FC236}">
                <a16:creationId xmlns:a16="http://schemas.microsoft.com/office/drawing/2014/main" id="{C9E2B164-1972-5557-5BFE-7311F56C268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D9834CF-EE9B-B758-60A1-6DF2CAB76514}"/>
              </a:ext>
            </a:extLst>
          </p:cNvPr>
          <p:cNvSpPr>
            <a:spLocks noGrp="1"/>
          </p:cNvSpPr>
          <p:nvPr>
            <p:ph type="sldNum" sz="quarter" idx="12"/>
          </p:nvPr>
        </p:nvSpPr>
        <p:spPr/>
        <p:txBody>
          <a:bodyPr/>
          <a:lstStyle/>
          <a:p>
            <a:fld id="{A8CBCD43-23D2-F245-A5D3-EFE7B0EC3060}" type="slidenum">
              <a:rPr lang="en-GB" smtClean="0"/>
              <a:t>‹#›</a:t>
            </a:fld>
            <a:endParaRPr lang="en-GB"/>
          </a:p>
        </p:txBody>
      </p:sp>
    </p:spTree>
    <p:extLst>
      <p:ext uri="{BB962C8B-B14F-4D97-AF65-F5344CB8AC3E}">
        <p14:creationId xmlns:p14="http://schemas.microsoft.com/office/powerpoint/2010/main" val="22447874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81A23-D991-B8D0-0BEF-1DA9B574B570}"/>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69CB62FF-7335-8B43-C494-EA331F25AF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F0A330C-CD8A-5BEC-5DAD-7415DE1A546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DC8510D5-8A86-6F4A-824A-0851426F65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D66A66A-C70C-9D12-4116-AEADA4276B7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EC9F3684-5B23-02B0-F5AC-07016FC98724}"/>
              </a:ext>
            </a:extLst>
          </p:cNvPr>
          <p:cNvSpPr>
            <a:spLocks noGrp="1"/>
          </p:cNvSpPr>
          <p:nvPr>
            <p:ph type="dt" sz="half" idx="10"/>
          </p:nvPr>
        </p:nvSpPr>
        <p:spPr/>
        <p:txBody>
          <a:bodyPr/>
          <a:lstStyle/>
          <a:p>
            <a:fld id="{4FBCFDA2-3EA7-A344-BFC6-DD5437D8CC40}" type="datetimeFigureOut">
              <a:rPr lang="en-GB" smtClean="0"/>
              <a:t>23/05/2026</a:t>
            </a:fld>
            <a:endParaRPr lang="en-GB"/>
          </a:p>
        </p:txBody>
      </p:sp>
      <p:sp>
        <p:nvSpPr>
          <p:cNvPr id="8" name="Footer Placeholder 7">
            <a:extLst>
              <a:ext uri="{FF2B5EF4-FFF2-40B4-BE49-F238E27FC236}">
                <a16:creationId xmlns:a16="http://schemas.microsoft.com/office/drawing/2014/main" id="{F809FB49-9DC3-883A-74D7-071ADC00B6C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6A572632-8A0B-276E-DE0E-CC1F889D7F1C}"/>
              </a:ext>
            </a:extLst>
          </p:cNvPr>
          <p:cNvSpPr>
            <a:spLocks noGrp="1"/>
          </p:cNvSpPr>
          <p:nvPr>
            <p:ph type="sldNum" sz="quarter" idx="12"/>
          </p:nvPr>
        </p:nvSpPr>
        <p:spPr/>
        <p:txBody>
          <a:bodyPr/>
          <a:lstStyle/>
          <a:p>
            <a:fld id="{A8CBCD43-23D2-F245-A5D3-EFE7B0EC3060}" type="slidenum">
              <a:rPr lang="en-GB" smtClean="0"/>
              <a:t>‹#›</a:t>
            </a:fld>
            <a:endParaRPr lang="en-GB"/>
          </a:p>
        </p:txBody>
      </p:sp>
    </p:spTree>
    <p:extLst>
      <p:ext uri="{BB962C8B-B14F-4D97-AF65-F5344CB8AC3E}">
        <p14:creationId xmlns:p14="http://schemas.microsoft.com/office/powerpoint/2010/main" val="6294286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C539D-2EA1-186F-2FC2-8C5BA613FEFD}"/>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A73CBC46-8D07-50F8-4671-E950B3D74BCF}"/>
              </a:ext>
            </a:extLst>
          </p:cNvPr>
          <p:cNvSpPr>
            <a:spLocks noGrp="1"/>
          </p:cNvSpPr>
          <p:nvPr>
            <p:ph type="dt" sz="half" idx="10"/>
          </p:nvPr>
        </p:nvSpPr>
        <p:spPr/>
        <p:txBody>
          <a:bodyPr/>
          <a:lstStyle/>
          <a:p>
            <a:fld id="{4FBCFDA2-3EA7-A344-BFC6-DD5437D8CC40}" type="datetimeFigureOut">
              <a:rPr lang="en-GB" smtClean="0"/>
              <a:t>23/05/2026</a:t>
            </a:fld>
            <a:endParaRPr lang="en-GB"/>
          </a:p>
        </p:txBody>
      </p:sp>
      <p:sp>
        <p:nvSpPr>
          <p:cNvPr id="4" name="Footer Placeholder 3">
            <a:extLst>
              <a:ext uri="{FF2B5EF4-FFF2-40B4-BE49-F238E27FC236}">
                <a16:creationId xmlns:a16="http://schemas.microsoft.com/office/drawing/2014/main" id="{15B1B192-BE98-F442-4A39-2A04D8C89B73}"/>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45B89509-F9E7-B5B2-8674-498C095E7935}"/>
              </a:ext>
            </a:extLst>
          </p:cNvPr>
          <p:cNvSpPr>
            <a:spLocks noGrp="1"/>
          </p:cNvSpPr>
          <p:nvPr>
            <p:ph type="sldNum" sz="quarter" idx="12"/>
          </p:nvPr>
        </p:nvSpPr>
        <p:spPr/>
        <p:txBody>
          <a:bodyPr/>
          <a:lstStyle/>
          <a:p>
            <a:fld id="{A8CBCD43-23D2-F245-A5D3-EFE7B0EC3060}" type="slidenum">
              <a:rPr lang="en-GB" smtClean="0"/>
              <a:t>‹#›</a:t>
            </a:fld>
            <a:endParaRPr lang="en-GB"/>
          </a:p>
        </p:txBody>
      </p:sp>
    </p:spTree>
    <p:extLst>
      <p:ext uri="{BB962C8B-B14F-4D97-AF65-F5344CB8AC3E}">
        <p14:creationId xmlns:p14="http://schemas.microsoft.com/office/powerpoint/2010/main" val="16811402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C4BD2A-D98E-28D4-B3AB-938BA2ED004E}"/>
              </a:ext>
            </a:extLst>
          </p:cNvPr>
          <p:cNvSpPr>
            <a:spLocks noGrp="1"/>
          </p:cNvSpPr>
          <p:nvPr>
            <p:ph type="dt" sz="half" idx="10"/>
          </p:nvPr>
        </p:nvSpPr>
        <p:spPr/>
        <p:txBody>
          <a:bodyPr/>
          <a:lstStyle/>
          <a:p>
            <a:fld id="{4FBCFDA2-3EA7-A344-BFC6-DD5437D8CC40}" type="datetimeFigureOut">
              <a:rPr lang="en-GB" smtClean="0"/>
              <a:t>23/05/2026</a:t>
            </a:fld>
            <a:endParaRPr lang="en-GB"/>
          </a:p>
        </p:txBody>
      </p:sp>
      <p:sp>
        <p:nvSpPr>
          <p:cNvPr id="3" name="Footer Placeholder 2">
            <a:extLst>
              <a:ext uri="{FF2B5EF4-FFF2-40B4-BE49-F238E27FC236}">
                <a16:creationId xmlns:a16="http://schemas.microsoft.com/office/drawing/2014/main" id="{9DEEB9D5-91AD-4B00-791C-04EC7CDCBB8B}"/>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A0FF1CBF-C5B6-42CA-E7F5-9FEB672EA5F9}"/>
              </a:ext>
            </a:extLst>
          </p:cNvPr>
          <p:cNvSpPr>
            <a:spLocks noGrp="1"/>
          </p:cNvSpPr>
          <p:nvPr>
            <p:ph type="sldNum" sz="quarter" idx="12"/>
          </p:nvPr>
        </p:nvSpPr>
        <p:spPr/>
        <p:txBody>
          <a:bodyPr/>
          <a:lstStyle/>
          <a:p>
            <a:fld id="{A8CBCD43-23D2-F245-A5D3-EFE7B0EC3060}" type="slidenum">
              <a:rPr lang="en-GB" smtClean="0"/>
              <a:t>‹#›</a:t>
            </a:fld>
            <a:endParaRPr lang="en-GB"/>
          </a:p>
        </p:txBody>
      </p:sp>
    </p:spTree>
    <p:extLst>
      <p:ext uri="{BB962C8B-B14F-4D97-AF65-F5344CB8AC3E}">
        <p14:creationId xmlns:p14="http://schemas.microsoft.com/office/powerpoint/2010/main" val="27034935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F91E2-06E6-7124-9D4B-6D7B36DEA0B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3A5DE184-7747-21AA-DEAC-525174B5FF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C225FBE8-210F-C634-3A08-A0C0B02DB0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C40CCED-3AEB-F7CF-5AAF-02A0DDC41885}"/>
              </a:ext>
            </a:extLst>
          </p:cNvPr>
          <p:cNvSpPr>
            <a:spLocks noGrp="1"/>
          </p:cNvSpPr>
          <p:nvPr>
            <p:ph type="dt" sz="half" idx="10"/>
          </p:nvPr>
        </p:nvSpPr>
        <p:spPr/>
        <p:txBody>
          <a:bodyPr/>
          <a:lstStyle/>
          <a:p>
            <a:fld id="{4FBCFDA2-3EA7-A344-BFC6-DD5437D8CC40}" type="datetimeFigureOut">
              <a:rPr lang="en-GB" smtClean="0"/>
              <a:t>23/05/2026</a:t>
            </a:fld>
            <a:endParaRPr lang="en-GB"/>
          </a:p>
        </p:txBody>
      </p:sp>
      <p:sp>
        <p:nvSpPr>
          <p:cNvPr id="6" name="Footer Placeholder 5">
            <a:extLst>
              <a:ext uri="{FF2B5EF4-FFF2-40B4-BE49-F238E27FC236}">
                <a16:creationId xmlns:a16="http://schemas.microsoft.com/office/drawing/2014/main" id="{395C6FCA-3B8C-AED3-8D76-8C41C38068F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BE41F04-482B-11BB-3BBF-053C477EFA4C}"/>
              </a:ext>
            </a:extLst>
          </p:cNvPr>
          <p:cNvSpPr>
            <a:spLocks noGrp="1"/>
          </p:cNvSpPr>
          <p:nvPr>
            <p:ph type="sldNum" sz="quarter" idx="12"/>
          </p:nvPr>
        </p:nvSpPr>
        <p:spPr/>
        <p:txBody>
          <a:bodyPr/>
          <a:lstStyle/>
          <a:p>
            <a:fld id="{A8CBCD43-23D2-F245-A5D3-EFE7B0EC3060}" type="slidenum">
              <a:rPr lang="en-GB" smtClean="0"/>
              <a:t>‹#›</a:t>
            </a:fld>
            <a:endParaRPr lang="en-GB"/>
          </a:p>
        </p:txBody>
      </p:sp>
    </p:spTree>
    <p:extLst>
      <p:ext uri="{BB962C8B-B14F-4D97-AF65-F5344CB8AC3E}">
        <p14:creationId xmlns:p14="http://schemas.microsoft.com/office/powerpoint/2010/main" val="24696178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1151F-A89D-2378-F5D3-1FD694CE796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20604FE8-5365-7D79-F364-A39FB951BF1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02355426-D0AF-34B2-89A8-2EFF4D1242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AB38790-51B8-3CF4-4E88-9236245C3B71}"/>
              </a:ext>
            </a:extLst>
          </p:cNvPr>
          <p:cNvSpPr>
            <a:spLocks noGrp="1"/>
          </p:cNvSpPr>
          <p:nvPr>
            <p:ph type="dt" sz="half" idx="10"/>
          </p:nvPr>
        </p:nvSpPr>
        <p:spPr/>
        <p:txBody>
          <a:bodyPr/>
          <a:lstStyle/>
          <a:p>
            <a:fld id="{4FBCFDA2-3EA7-A344-BFC6-DD5437D8CC40}" type="datetimeFigureOut">
              <a:rPr lang="en-GB" smtClean="0"/>
              <a:t>23/05/2026</a:t>
            </a:fld>
            <a:endParaRPr lang="en-GB"/>
          </a:p>
        </p:txBody>
      </p:sp>
      <p:sp>
        <p:nvSpPr>
          <p:cNvPr id="6" name="Footer Placeholder 5">
            <a:extLst>
              <a:ext uri="{FF2B5EF4-FFF2-40B4-BE49-F238E27FC236}">
                <a16:creationId xmlns:a16="http://schemas.microsoft.com/office/drawing/2014/main" id="{B1219444-C57E-12EB-911F-2C68AFCECAD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91568D8-DA67-816F-2CD8-59D4C259456B}"/>
              </a:ext>
            </a:extLst>
          </p:cNvPr>
          <p:cNvSpPr>
            <a:spLocks noGrp="1"/>
          </p:cNvSpPr>
          <p:nvPr>
            <p:ph type="sldNum" sz="quarter" idx="12"/>
          </p:nvPr>
        </p:nvSpPr>
        <p:spPr/>
        <p:txBody>
          <a:bodyPr/>
          <a:lstStyle/>
          <a:p>
            <a:fld id="{A8CBCD43-23D2-F245-A5D3-EFE7B0EC3060}" type="slidenum">
              <a:rPr lang="en-GB" smtClean="0"/>
              <a:t>‹#›</a:t>
            </a:fld>
            <a:endParaRPr lang="en-GB"/>
          </a:p>
        </p:txBody>
      </p:sp>
    </p:spTree>
    <p:extLst>
      <p:ext uri="{BB962C8B-B14F-4D97-AF65-F5344CB8AC3E}">
        <p14:creationId xmlns:p14="http://schemas.microsoft.com/office/powerpoint/2010/main" val="8405248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0C30D-D7E5-05B2-B489-F7ED313031BA}"/>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01CB1689-29EC-3A89-FF78-B8CD653DD3A1}"/>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D4F173DA-3A60-B217-BBAB-E811F3590B14}"/>
              </a:ext>
            </a:extLst>
          </p:cNvPr>
          <p:cNvSpPr>
            <a:spLocks noGrp="1"/>
          </p:cNvSpPr>
          <p:nvPr>
            <p:ph type="dt" sz="half" idx="10"/>
          </p:nvPr>
        </p:nvSpPr>
        <p:spPr/>
        <p:txBody>
          <a:bodyPr/>
          <a:lstStyle/>
          <a:p>
            <a:fld id="{4FBCFDA2-3EA7-A344-BFC6-DD5437D8CC40}" type="datetimeFigureOut">
              <a:rPr lang="en-GB" smtClean="0"/>
              <a:t>23/05/2026</a:t>
            </a:fld>
            <a:endParaRPr lang="en-GB"/>
          </a:p>
        </p:txBody>
      </p:sp>
      <p:sp>
        <p:nvSpPr>
          <p:cNvPr id="5" name="Footer Placeholder 4">
            <a:extLst>
              <a:ext uri="{FF2B5EF4-FFF2-40B4-BE49-F238E27FC236}">
                <a16:creationId xmlns:a16="http://schemas.microsoft.com/office/drawing/2014/main" id="{1BD917A5-5199-3B53-C735-6108A0B6492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0E748B4-2C49-49A4-EEDB-A2F99F029F34}"/>
              </a:ext>
            </a:extLst>
          </p:cNvPr>
          <p:cNvSpPr>
            <a:spLocks noGrp="1"/>
          </p:cNvSpPr>
          <p:nvPr>
            <p:ph type="sldNum" sz="quarter" idx="12"/>
          </p:nvPr>
        </p:nvSpPr>
        <p:spPr/>
        <p:txBody>
          <a:bodyPr/>
          <a:lstStyle/>
          <a:p>
            <a:fld id="{A8CBCD43-23D2-F245-A5D3-EFE7B0EC3060}" type="slidenum">
              <a:rPr lang="en-GB" smtClean="0"/>
              <a:t>‹#›</a:t>
            </a:fld>
            <a:endParaRPr lang="en-GB"/>
          </a:p>
        </p:txBody>
      </p:sp>
    </p:spTree>
    <p:extLst>
      <p:ext uri="{BB962C8B-B14F-4D97-AF65-F5344CB8AC3E}">
        <p14:creationId xmlns:p14="http://schemas.microsoft.com/office/powerpoint/2010/main" val="10163262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1845785-2C1E-089F-9357-939F39093DC0}"/>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1B96F5A1-24B9-8E86-DC5A-0CB89BA13877}"/>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2EBBBB82-12CC-4E8A-A4D0-FFBD2D54C039}"/>
              </a:ext>
            </a:extLst>
          </p:cNvPr>
          <p:cNvSpPr>
            <a:spLocks noGrp="1"/>
          </p:cNvSpPr>
          <p:nvPr>
            <p:ph type="dt" sz="half" idx="10"/>
          </p:nvPr>
        </p:nvSpPr>
        <p:spPr/>
        <p:txBody>
          <a:bodyPr/>
          <a:lstStyle/>
          <a:p>
            <a:fld id="{4FBCFDA2-3EA7-A344-BFC6-DD5437D8CC40}" type="datetimeFigureOut">
              <a:rPr lang="en-GB" smtClean="0"/>
              <a:t>23/05/2026</a:t>
            </a:fld>
            <a:endParaRPr lang="en-GB"/>
          </a:p>
        </p:txBody>
      </p:sp>
      <p:sp>
        <p:nvSpPr>
          <p:cNvPr id="5" name="Footer Placeholder 4">
            <a:extLst>
              <a:ext uri="{FF2B5EF4-FFF2-40B4-BE49-F238E27FC236}">
                <a16:creationId xmlns:a16="http://schemas.microsoft.com/office/drawing/2014/main" id="{F5870DE4-6A7A-1946-E10D-55421A01862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E731C69-D14D-0A36-B445-3F9999CCB554}"/>
              </a:ext>
            </a:extLst>
          </p:cNvPr>
          <p:cNvSpPr>
            <a:spLocks noGrp="1"/>
          </p:cNvSpPr>
          <p:nvPr>
            <p:ph type="sldNum" sz="quarter" idx="12"/>
          </p:nvPr>
        </p:nvSpPr>
        <p:spPr/>
        <p:txBody>
          <a:bodyPr/>
          <a:lstStyle/>
          <a:p>
            <a:fld id="{A8CBCD43-23D2-F245-A5D3-EFE7B0EC3060}" type="slidenum">
              <a:rPr lang="en-GB" smtClean="0"/>
              <a:t>‹#›</a:t>
            </a:fld>
            <a:endParaRPr lang="en-GB"/>
          </a:p>
        </p:txBody>
      </p:sp>
    </p:spTree>
    <p:extLst>
      <p:ext uri="{BB962C8B-B14F-4D97-AF65-F5344CB8AC3E}">
        <p14:creationId xmlns:p14="http://schemas.microsoft.com/office/powerpoint/2010/main" val="33872747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AEC213B-CFED-95A7-7806-6234EC9342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8A3D7DAB-1B0E-DCDE-F847-281C279227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F7A20C6A-3DC9-88D3-6866-EB26145C90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FBCFDA2-3EA7-A344-BFC6-DD5437D8CC40}" type="datetimeFigureOut">
              <a:rPr lang="en-GB" smtClean="0"/>
              <a:t>23/05/2026</a:t>
            </a:fld>
            <a:endParaRPr lang="en-GB"/>
          </a:p>
        </p:txBody>
      </p:sp>
      <p:sp>
        <p:nvSpPr>
          <p:cNvPr id="5" name="Footer Placeholder 4">
            <a:extLst>
              <a:ext uri="{FF2B5EF4-FFF2-40B4-BE49-F238E27FC236}">
                <a16:creationId xmlns:a16="http://schemas.microsoft.com/office/drawing/2014/main" id="{9618F71B-DF06-5700-E014-D8035B23ED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5050AA09-B2EA-42E9-34FB-D09D9486C03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8CBCD43-23D2-F245-A5D3-EFE7B0EC3060}" type="slidenum">
              <a:rPr lang="en-GB" smtClean="0"/>
              <a:t>‹#›</a:t>
            </a:fld>
            <a:endParaRPr lang="en-GB"/>
          </a:p>
        </p:txBody>
      </p:sp>
    </p:spTree>
    <p:extLst>
      <p:ext uri="{BB962C8B-B14F-4D97-AF65-F5344CB8AC3E}">
        <p14:creationId xmlns:p14="http://schemas.microsoft.com/office/powerpoint/2010/main" val="34664297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EC0D24B-FA6E-012C-D92B-C3E1C7299D45}"/>
              </a:ext>
            </a:extLst>
          </p:cNvPr>
          <p:cNvSpPr txBox="1"/>
          <p:nvPr/>
        </p:nvSpPr>
        <p:spPr>
          <a:xfrm>
            <a:off x="318052" y="344557"/>
            <a:ext cx="2662908" cy="584775"/>
          </a:xfrm>
          <a:prstGeom prst="rect">
            <a:avLst/>
          </a:prstGeom>
          <a:noFill/>
        </p:spPr>
        <p:txBody>
          <a:bodyPr wrap="none" rtlCol="0">
            <a:spAutoFit/>
          </a:bodyPr>
          <a:lstStyle/>
          <a:p>
            <a:r>
              <a:rPr lang="en-GB" sz="3200" dirty="0">
                <a:latin typeface="Helvetica Neue Medium" panose="02000503000000020004" pitchFamily="2" charset="0"/>
                <a:ea typeface="Helvetica Neue Medium" panose="02000503000000020004" pitchFamily="2" charset="0"/>
                <a:cs typeface="Helvetica Neue Medium" panose="02000503000000020004" pitchFamily="2" charset="0"/>
              </a:rPr>
              <a:t>32 Point Title</a:t>
            </a:r>
          </a:p>
        </p:txBody>
      </p:sp>
      <p:sp>
        <p:nvSpPr>
          <p:cNvPr id="5" name="Pie 4">
            <a:extLst>
              <a:ext uri="{FF2B5EF4-FFF2-40B4-BE49-F238E27FC236}">
                <a16:creationId xmlns:a16="http://schemas.microsoft.com/office/drawing/2014/main" id="{7648163A-C6C8-CC87-7E91-72ADDC6F68C7}"/>
              </a:ext>
            </a:extLst>
          </p:cNvPr>
          <p:cNvSpPr/>
          <p:nvPr/>
        </p:nvSpPr>
        <p:spPr>
          <a:xfrm rot="943522">
            <a:off x="1550503" y="1828801"/>
            <a:ext cx="3670853" cy="3670853"/>
          </a:xfrm>
          <a:prstGeom prst="pie">
            <a:avLst>
              <a:gd name="adj1" fmla="val 21002755"/>
              <a:gd name="adj2" fmla="val 16801261"/>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 name="Pie 6">
            <a:extLst>
              <a:ext uri="{FF2B5EF4-FFF2-40B4-BE49-F238E27FC236}">
                <a16:creationId xmlns:a16="http://schemas.microsoft.com/office/drawing/2014/main" id="{1958E9FB-B694-9FE0-F960-C5DBD60F49B3}"/>
              </a:ext>
            </a:extLst>
          </p:cNvPr>
          <p:cNvSpPr/>
          <p:nvPr/>
        </p:nvSpPr>
        <p:spPr>
          <a:xfrm rot="943703">
            <a:off x="1996327" y="1593573"/>
            <a:ext cx="3670853" cy="3670853"/>
          </a:xfrm>
          <a:prstGeom prst="pie">
            <a:avLst>
              <a:gd name="adj1" fmla="val 16807976"/>
              <a:gd name="adj2" fmla="val 20984368"/>
            </a:avLst>
          </a:prstGeom>
          <a:solidFill>
            <a:srgbClr val="40A0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8" name="TextBox 7">
            <a:extLst>
              <a:ext uri="{FF2B5EF4-FFF2-40B4-BE49-F238E27FC236}">
                <a16:creationId xmlns:a16="http://schemas.microsoft.com/office/drawing/2014/main" id="{E9D1C6E0-4ACF-FA41-718D-82B063CB8C04}"/>
              </a:ext>
            </a:extLst>
          </p:cNvPr>
          <p:cNvSpPr txBox="1"/>
          <p:nvPr/>
        </p:nvSpPr>
        <p:spPr>
          <a:xfrm>
            <a:off x="7172266" y="1475446"/>
            <a:ext cx="3452227" cy="2255041"/>
          </a:xfrm>
          <a:prstGeom prst="rect">
            <a:avLst/>
          </a:prstGeom>
          <a:noFill/>
        </p:spPr>
        <p:txBody>
          <a:bodyPr wrap="none" rtlCol="0">
            <a:spAutoFit/>
          </a:bodyPr>
          <a:lstStyle/>
          <a:p>
            <a:pPr>
              <a:lnSpc>
                <a:spcPct val="150000"/>
              </a:lnSpc>
            </a:pPr>
            <a:r>
              <a:rPr lang="en-GB" sz="2400" b="1" dirty="0"/>
              <a:t>Short Descriptive Label</a:t>
            </a:r>
          </a:p>
          <a:p>
            <a:pPr>
              <a:lnSpc>
                <a:spcPct val="150000"/>
              </a:lnSpc>
            </a:pPr>
            <a:r>
              <a:rPr lang="en-GB" sz="2400" b="1" dirty="0">
                <a:solidFill>
                  <a:schemeClr val="tx1">
                    <a:lumMod val="50000"/>
                    <a:lumOff val="50000"/>
                  </a:schemeClr>
                </a:solidFill>
              </a:rPr>
              <a:t>Max 3 words</a:t>
            </a:r>
          </a:p>
          <a:p>
            <a:pPr>
              <a:lnSpc>
                <a:spcPct val="150000"/>
              </a:lnSpc>
            </a:pPr>
            <a:r>
              <a:rPr lang="en-GB" sz="2400" b="1" dirty="0">
                <a:solidFill>
                  <a:schemeClr val="tx1">
                    <a:lumMod val="50000"/>
                    <a:lumOff val="50000"/>
                  </a:schemeClr>
                </a:solidFill>
              </a:rPr>
              <a:t>24 Point Text</a:t>
            </a:r>
          </a:p>
          <a:p>
            <a:pPr>
              <a:lnSpc>
                <a:spcPct val="150000"/>
              </a:lnSpc>
            </a:pPr>
            <a:r>
              <a:rPr lang="en-GB" sz="2400" b="1" dirty="0">
                <a:solidFill>
                  <a:schemeClr val="tx1">
                    <a:lumMod val="50000"/>
                    <a:lumOff val="50000"/>
                  </a:schemeClr>
                </a:solidFill>
              </a:rPr>
              <a:t>Detail is spoken</a:t>
            </a:r>
          </a:p>
        </p:txBody>
      </p:sp>
      <p:cxnSp>
        <p:nvCxnSpPr>
          <p:cNvPr id="10" name="Straight Arrow Connector 9">
            <a:extLst>
              <a:ext uri="{FF2B5EF4-FFF2-40B4-BE49-F238E27FC236}">
                <a16:creationId xmlns:a16="http://schemas.microsoft.com/office/drawing/2014/main" id="{2253AB3E-4104-149E-D754-65E7C60FF2EF}"/>
              </a:ext>
            </a:extLst>
          </p:cNvPr>
          <p:cNvCxnSpPr>
            <a:cxnSpLocks/>
          </p:cNvCxnSpPr>
          <p:nvPr/>
        </p:nvCxnSpPr>
        <p:spPr>
          <a:xfrm flipH="1">
            <a:off x="5565913" y="1895061"/>
            <a:ext cx="1470991" cy="596348"/>
          </a:xfrm>
          <a:prstGeom prst="straightConnector1">
            <a:avLst/>
          </a:prstGeom>
          <a:ln w="38100">
            <a:solidFill>
              <a:srgbClr val="40A02B"/>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E5DA806A-AD9F-38C4-AF3E-62F15C16487A}"/>
              </a:ext>
            </a:extLst>
          </p:cNvPr>
          <p:cNvSpPr txBox="1"/>
          <p:nvPr/>
        </p:nvSpPr>
        <p:spPr>
          <a:xfrm>
            <a:off x="4716262" y="5912776"/>
            <a:ext cx="3170291" cy="369332"/>
          </a:xfrm>
          <a:prstGeom prst="rect">
            <a:avLst/>
          </a:prstGeom>
          <a:noFill/>
        </p:spPr>
        <p:txBody>
          <a:bodyPr wrap="none" rtlCol="0">
            <a:spAutoFit/>
          </a:bodyPr>
          <a:lstStyle/>
          <a:p>
            <a:r>
              <a:rPr lang="en-GB" dirty="0"/>
              <a:t>(speaker notes are down here)</a:t>
            </a:r>
          </a:p>
        </p:txBody>
      </p:sp>
      <p:cxnSp>
        <p:nvCxnSpPr>
          <p:cNvPr id="16" name="Straight Arrow Connector 15">
            <a:extLst>
              <a:ext uri="{FF2B5EF4-FFF2-40B4-BE49-F238E27FC236}">
                <a16:creationId xmlns:a16="http://schemas.microsoft.com/office/drawing/2014/main" id="{F55FBBE7-7050-4F75-95EA-07C8E8B7C996}"/>
              </a:ext>
            </a:extLst>
          </p:cNvPr>
          <p:cNvCxnSpPr/>
          <p:nvPr/>
        </p:nvCxnSpPr>
        <p:spPr>
          <a:xfrm>
            <a:off x="6301408" y="6308036"/>
            <a:ext cx="0" cy="483704"/>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4104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he Thinker - Presentation Clipart">
            <a:extLst>
              <a:ext uri="{FF2B5EF4-FFF2-40B4-BE49-F238E27FC236}">
                <a16:creationId xmlns:a16="http://schemas.microsoft.com/office/drawing/2014/main" id="{E3F9880B-12BC-2E3A-736E-A64467676D2F}"/>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flipH="1">
            <a:off x="8475124" y="2469355"/>
            <a:ext cx="3635692" cy="4114800"/>
          </a:xfrm>
          <a:prstGeom prst="rect">
            <a:avLst/>
          </a:prstGeom>
          <a:noFill/>
          <a:extLst>
            <a:ext uri="{909E8E84-426E-40DD-AFC4-6F175D3DCCD1}">
              <a14:hiddenFill xmlns:a14="http://schemas.microsoft.com/office/drawing/2010/main">
                <a:solidFill>
                  <a:srgbClr val="FFFFFF"/>
                </a:solidFill>
              </a14:hiddenFill>
            </a:ext>
          </a:extLst>
        </p:spPr>
      </p:pic>
      <p:sp>
        <p:nvSpPr>
          <p:cNvPr id="10" name="Rounded Rectangle 9">
            <a:extLst>
              <a:ext uri="{FF2B5EF4-FFF2-40B4-BE49-F238E27FC236}">
                <a16:creationId xmlns:a16="http://schemas.microsoft.com/office/drawing/2014/main" id="{97394225-B22C-7628-AB95-022CEC4FEC38}"/>
              </a:ext>
            </a:extLst>
          </p:cNvPr>
          <p:cNvSpPr/>
          <p:nvPr/>
        </p:nvSpPr>
        <p:spPr>
          <a:xfrm>
            <a:off x="159026" y="1649812"/>
            <a:ext cx="8587410" cy="3881016"/>
          </a:xfrm>
          <a:prstGeom prst="roundRect">
            <a:avLst>
              <a:gd name="adj" fmla="val 1603"/>
            </a:avLst>
          </a:prstGeom>
          <a:solidFill>
            <a:srgbClr val="40A0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97101C2D-1A7D-EAB2-9D28-4D8674C5A95A}"/>
              </a:ext>
            </a:extLst>
          </p:cNvPr>
          <p:cNvSpPr txBox="1"/>
          <p:nvPr/>
        </p:nvSpPr>
        <p:spPr>
          <a:xfrm>
            <a:off x="81184" y="512959"/>
            <a:ext cx="8665252" cy="830997"/>
          </a:xfrm>
          <a:prstGeom prst="rect">
            <a:avLst/>
          </a:prstGeom>
          <a:noFill/>
        </p:spPr>
        <p:txBody>
          <a:bodyPr wrap="square" rtlCol="0">
            <a:spAutoFit/>
          </a:bodyPr>
          <a:lstStyle/>
          <a:p>
            <a:r>
              <a:rPr lang="en-GB" sz="1600" b="1" dirty="0">
                <a:solidFill>
                  <a:srgbClr val="FF0000"/>
                </a:solidFill>
                <a:latin typeface="Times New Roman" panose="02020603050405020304" pitchFamily="18" charset="0"/>
                <a:cs typeface="Times New Roman" panose="02020603050405020304" pitchFamily="18" charset="0"/>
              </a:rPr>
              <a:t>An Investigation Into </a:t>
            </a:r>
            <a:r>
              <a:rPr lang="en-GB" sz="1600" b="1" dirty="0" err="1">
                <a:solidFill>
                  <a:srgbClr val="FF0000"/>
                </a:solidFill>
                <a:latin typeface="Times New Roman" panose="02020603050405020304" pitchFamily="18" charset="0"/>
                <a:cs typeface="Times New Roman" panose="02020603050405020304" pitchFamily="18" charset="0"/>
              </a:rPr>
              <a:t>Sweller's</a:t>
            </a:r>
            <a:r>
              <a:rPr lang="en-GB" sz="1600" b="1" dirty="0">
                <a:solidFill>
                  <a:srgbClr val="FF0000"/>
                </a:solidFill>
                <a:latin typeface="Times New Roman" panose="02020603050405020304" pitchFamily="18" charset="0"/>
                <a:cs typeface="Times New Roman" panose="02020603050405020304" pitchFamily="18" charset="0"/>
              </a:rPr>
              <a:t> Cognitive Load </a:t>
            </a:r>
            <a:r>
              <a:rPr lang="en-GB" sz="1600" b="1" i="1" dirty="0">
                <a:solidFill>
                  <a:srgbClr val="FF0000"/>
                </a:solidFill>
                <a:latin typeface="Times New Roman" panose="02020603050405020304" pitchFamily="18" charset="0"/>
                <a:cs typeface="Times New Roman" panose="02020603050405020304" pitchFamily="18" charset="0"/>
              </a:rPr>
              <a:t>Theory of Multimedia Learning </a:t>
            </a:r>
            <a:r>
              <a:rPr lang="en-GB" sz="1600" b="1" dirty="0">
                <a:solidFill>
                  <a:srgbClr val="FF0000"/>
                </a:solidFill>
                <a:latin typeface="Times New Roman" panose="02020603050405020304" pitchFamily="18" charset="0"/>
                <a:cs typeface="Times New Roman" panose="02020603050405020304" pitchFamily="18" charset="0"/>
              </a:rPr>
              <a:t>(1988) And Its Practical Application In Modern Pedagogy and </a:t>
            </a:r>
            <a:r>
              <a:rPr lang="en-GB" sz="1600" b="1" i="1" dirty="0">
                <a:solidFill>
                  <a:srgbClr val="FF0000"/>
                </a:solidFill>
                <a:latin typeface="Times New Roman" panose="02020603050405020304" pitchFamily="18" charset="0"/>
                <a:cs typeface="Times New Roman" panose="02020603050405020304" pitchFamily="18" charset="0"/>
              </a:rPr>
              <a:t>Web Content Accessibility Guidelines </a:t>
            </a:r>
            <a:r>
              <a:rPr lang="en-GB" sz="1600" b="1" dirty="0">
                <a:solidFill>
                  <a:srgbClr val="FF0000"/>
                </a:solidFill>
                <a:latin typeface="Times New Roman" panose="02020603050405020304" pitchFamily="18" charset="0"/>
                <a:cs typeface="Times New Roman" panose="02020603050405020304" pitchFamily="18" charset="0"/>
              </a:rPr>
              <a:t>(WCAG 2.1) Compliance Standards</a:t>
            </a:r>
          </a:p>
        </p:txBody>
      </p:sp>
      <p:sp>
        <p:nvSpPr>
          <p:cNvPr id="3" name="TextBox 2">
            <a:extLst>
              <a:ext uri="{FF2B5EF4-FFF2-40B4-BE49-F238E27FC236}">
                <a16:creationId xmlns:a16="http://schemas.microsoft.com/office/drawing/2014/main" id="{BED7F34C-02B5-7565-054B-E3A59AB364F9}"/>
              </a:ext>
            </a:extLst>
          </p:cNvPr>
          <p:cNvSpPr txBox="1"/>
          <p:nvPr/>
        </p:nvSpPr>
        <p:spPr>
          <a:xfrm>
            <a:off x="81184" y="160754"/>
            <a:ext cx="7482754" cy="369332"/>
          </a:xfrm>
          <a:prstGeom prst="rect">
            <a:avLst/>
          </a:prstGeom>
          <a:noFill/>
        </p:spPr>
        <p:txBody>
          <a:bodyPr wrap="none" rtlCol="0">
            <a:spAutoFit/>
          </a:bodyPr>
          <a:lstStyle/>
          <a:p>
            <a:r>
              <a:rPr lang="en-GB" b="1" dirty="0">
                <a:latin typeface="Times New Roman" panose="02020603050405020304" pitchFamily="18" charset="0"/>
                <a:cs typeface="Times New Roman" panose="02020603050405020304" pitchFamily="18" charset="0"/>
              </a:rPr>
              <a:t>Teaching That Sticks: An Example of A Bad Slide </a:t>
            </a:r>
            <a:r>
              <a:rPr lang="en-GB" b="1" dirty="0">
                <a:solidFill>
                  <a:srgbClr val="FF0000"/>
                </a:solidFill>
                <a:latin typeface="Times New Roman" panose="02020603050405020304" pitchFamily="18" charset="0"/>
                <a:cs typeface="Times New Roman" panose="02020603050405020304" pitchFamily="18" charset="0"/>
              </a:rPr>
              <a:t>(please do not do this)</a:t>
            </a:r>
          </a:p>
        </p:txBody>
      </p:sp>
      <p:sp>
        <p:nvSpPr>
          <p:cNvPr id="4" name="TextBox 3">
            <a:extLst>
              <a:ext uri="{FF2B5EF4-FFF2-40B4-BE49-F238E27FC236}">
                <a16:creationId xmlns:a16="http://schemas.microsoft.com/office/drawing/2014/main" id="{BDE79759-5F76-40B7-04D5-1AC11E4F1FBD}"/>
              </a:ext>
            </a:extLst>
          </p:cNvPr>
          <p:cNvSpPr txBox="1"/>
          <p:nvPr/>
        </p:nvSpPr>
        <p:spPr>
          <a:xfrm>
            <a:off x="159025" y="1764326"/>
            <a:ext cx="8316099" cy="3693319"/>
          </a:xfrm>
          <a:prstGeom prst="rect">
            <a:avLst/>
          </a:prstGeom>
          <a:noFill/>
        </p:spPr>
        <p:txBody>
          <a:bodyPr wrap="square" rtlCol="0">
            <a:spAutoFit/>
          </a:bodyPr>
          <a:lstStyle/>
          <a:p>
            <a:r>
              <a:rPr lang="en-GB" b="1" dirty="0">
                <a:solidFill>
                  <a:srgbClr val="FF0000"/>
                </a:solidFill>
                <a:latin typeface="Times New Roman" panose="02020603050405020304" pitchFamily="18" charset="0"/>
                <a:cs typeface="Times New Roman" panose="02020603050405020304" pitchFamily="18" charset="0"/>
              </a:rPr>
              <a:t>Cognitive Load Theory (CLT) is an educational theory proposed by John Sweller in 1988. It posits that because human working memory has a limited capacity, instructional materials should be designed in a way that does not overload it. There are three types of cognitive load:</a:t>
            </a:r>
          </a:p>
          <a:p>
            <a:pPr marL="342900" indent="-342900">
              <a:buAutoNum type="arabicPeriod"/>
            </a:pPr>
            <a:r>
              <a:rPr lang="en-GB" b="1" dirty="0">
                <a:solidFill>
                  <a:srgbClr val="FF0000"/>
                </a:solidFill>
                <a:latin typeface="Times New Roman" panose="02020603050405020304" pitchFamily="18" charset="0"/>
                <a:cs typeface="Times New Roman" panose="02020603050405020304" pitchFamily="18" charset="0"/>
              </a:rPr>
              <a:t>Intrinsic cognitive load, which is the effort associated with a specific topic</a:t>
            </a:r>
          </a:p>
          <a:p>
            <a:pPr marL="342900" indent="-342900">
              <a:buAutoNum type="arabicPeriod"/>
            </a:pPr>
            <a:r>
              <a:rPr lang="en-GB" b="1" dirty="0">
                <a:solidFill>
                  <a:srgbClr val="FF0000"/>
                </a:solidFill>
                <a:latin typeface="Times New Roman" panose="02020603050405020304" pitchFamily="18" charset="0"/>
                <a:cs typeface="Times New Roman" panose="02020603050405020304" pitchFamily="18" charset="0"/>
              </a:rPr>
              <a:t>Extraneous cognitive load, which refers to the way information or tasks are presented to a learner; and</a:t>
            </a:r>
          </a:p>
          <a:p>
            <a:pPr marL="342900" indent="-342900">
              <a:buAutoNum type="arabicPeriod"/>
            </a:pPr>
            <a:r>
              <a:rPr lang="en-GB" b="1" dirty="0">
                <a:solidFill>
                  <a:srgbClr val="FF0000"/>
                </a:solidFill>
                <a:latin typeface="Times New Roman" panose="02020603050405020304" pitchFamily="18" charset="0"/>
                <a:cs typeface="Times New Roman" panose="02020603050405020304" pitchFamily="18" charset="0"/>
              </a:rPr>
              <a:t>Germane cognitive load, which is the work put into creating a permanent store of knowledge, or a 'schema.’</a:t>
            </a:r>
          </a:p>
          <a:p>
            <a:pPr marL="342900" indent="-342900">
              <a:buAutoNum type="arabicPeriod"/>
            </a:pPr>
            <a:endParaRPr lang="en-GB" b="1" dirty="0">
              <a:solidFill>
                <a:srgbClr val="FF0000"/>
              </a:solidFill>
              <a:latin typeface="Times New Roman" panose="02020603050405020304" pitchFamily="18" charset="0"/>
              <a:cs typeface="Times New Roman" panose="02020603050405020304" pitchFamily="18" charset="0"/>
            </a:endParaRPr>
          </a:p>
          <a:p>
            <a:r>
              <a:rPr lang="en-GB" dirty="0">
                <a:solidFill>
                  <a:srgbClr val="FF0000"/>
                </a:solidFill>
                <a:latin typeface="Times New Roman" panose="02020603050405020304" pitchFamily="18" charset="0"/>
                <a:cs typeface="Times New Roman" panose="02020603050405020304" pitchFamily="18" charset="0"/>
              </a:rPr>
              <a:t>When designing slides, one must ensure that extraneous load is minimized, intrinsic load is managed, and germane load is promoted. Furthermore, accessibility is critical. WCAG guidelines suggest contrast ratios should be at least 4.5:1 for normal text.</a:t>
            </a:r>
          </a:p>
        </p:txBody>
      </p:sp>
      <p:sp>
        <p:nvSpPr>
          <p:cNvPr id="6" name="Cloud Callout 5">
            <a:extLst>
              <a:ext uri="{FF2B5EF4-FFF2-40B4-BE49-F238E27FC236}">
                <a16:creationId xmlns:a16="http://schemas.microsoft.com/office/drawing/2014/main" id="{1B5D094C-4E35-A46B-BE40-23F788D63EA4}"/>
              </a:ext>
            </a:extLst>
          </p:cNvPr>
          <p:cNvSpPr/>
          <p:nvPr/>
        </p:nvSpPr>
        <p:spPr>
          <a:xfrm>
            <a:off x="9516118" y="1485363"/>
            <a:ext cx="2004568" cy="896839"/>
          </a:xfrm>
          <a:prstGeom prst="cloudCallout">
            <a:avLst>
              <a:gd name="adj1" fmla="val -24800"/>
              <a:gd name="adj2" fmla="val 7995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4400" b="1" dirty="0">
              <a:solidFill>
                <a:srgbClr val="FF0000"/>
              </a:solidFill>
            </a:endParaRPr>
          </a:p>
        </p:txBody>
      </p:sp>
      <p:sp>
        <p:nvSpPr>
          <p:cNvPr id="7" name="TextBox 6">
            <a:extLst>
              <a:ext uri="{FF2B5EF4-FFF2-40B4-BE49-F238E27FC236}">
                <a16:creationId xmlns:a16="http://schemas.microsoft.com/office/drawing/2014/main" id="{52AA127E-FC9F-BA3C-3EE3-C79392F6AAD2}"/>
              </a:ext>
            </a:extLst>
          </p:cNvPr>
          <p:cNvSpPr txBox="1"/>
          <p:nvPr/>
        </p:nvSpPr>
        <p:spPr>
          <a:xfrm>
            <a:off x="9799295" y="1613345"/>
            <a:ext cx="1438214" cy="584775"/>
          </a:xfrm>
          <a:prstGeom prst="rect">
            <a:avLst/>
          </a:prstGeom>
          <a:noFill/>
        </p:spPr>
        <p:txBody>
          <a:bodyPr wrap="none" rtlCol="0">
            <a:spAutoFit/>
          </a:bodyPr>
          <a:lstStyle/>
          <a:p>
            <a:r>
              <a:rPr lang="en-GB" sz="3200" b="1" dirty="0">
                <a:solidFill>
                  <a:srgbClr val="FF0000"/>
                </a:solidFill>
                <a:latin typeface="Times New Roman" panose="02020603050405020304" pitchFamily="18" charset="0"/>
                <a:cs typeface="Times New Roman" panose="02020603050405020304" pitchFamily="18" charset="0"/>
              </a:rPr>
              <a:t>HELP!</a:t>
            </a:r>
          </a:p>
        </p:txBody>
      </p:sp>
      <p:sp>
        <p:nvSpPr>
          <p:cNvPr id="8" name="TextBox 7">
            <a:extLst>
              <a:ext uri="{FF2B5EF4-FFF2-40B4-BE49-F238E27FC236}">
                <a16:creationId xmlns:a16="http://schemas.microsoft.com/office/drawing/2014/main" id="{FA44AD21-DE98-5562-EC05-E7F6F8C9520B}"/>
              </a:ext>
            </a:extLst>
          </p:cNvPr>
          <p:cNvSpPr txBox="1"/>
          <p:nvPr/>
        </p:nvSpPr>
        <p:spPr>
          <a:xfrm>
            <a:off x="81184" y="5836684"/>
            <a:ext cx="12130693" cy="1015663"/>
          </a:xfrm>
          <a:prstGeom prst="rect">
            <a:avLst/>
          </a:prstGeom>
          <a:noFill/>
        </p:spPr>
        <p:txBody>
          <a:bodyPr wrap="none" rtlCol="0">
            <a:spAutoFit/>
          </a:bodyPr>
          <a:lstStyle/>
          <a:p>
            <a:r>
              <a:rPr lang="en-GB" sz="1200" b="1" dirty="0">
                <a:latin typeface="Times New Roman" panose="02020603050405020304" pitchFamily="18" charset="0"/>
                <a:cs typeface="Times New Roman" panose="02020603050405020304" pitchFamily="18" charset="0"/>
              </a:rPr>
              <a:t>Further Reading and References:</a:t>
            </a:r>
          </a:p>
          <a:p>
            <a:r>
              <a:rPr lang="en-GB" sz="1200" dirty="0" err="1">
                <a:latin typeface="Times New Roman" panose="02020603050405020304" pitchFamily="18" charset="0"/>
                <a:cs typeface="Times New Roman" panose="02020603050405020304" pitchFamily="18" charset="0"/>
              </a:rPr>
              <a:t>Sweller</a:t>
            </a:r>
            <a:r>
              <a:rPr lang="en-GB" sz="1200" dirty="0">
                <a:latin typeface="Times New Roman" panose="02020603050405020304" pitchFamily="18" charset="0"/>
                <a:cs typeface="Times New Roman" panose="02020603050405020304" pitchFamily="18" charset="0"/>
              </a:rPr>
              <a:t>, J. (1988). Cognitive load during problem solving: Effects on learning. Cognitive Science, 12(2), 257–285.</a:t>
            </a:r>
          </a:p>
          <a:p>
            <a:r>
              <a:rPr lang="en-GB" sz="1200" dirty="0">
                <a:latin typeface="Times New Roman" panose="02020603050405020304" pitchFamily="18" charset="0"/>
                <a:cs typeface="Times New Roman" panose="02020603050405020304" pitchFamily="18" charset="0"/>
              </a:rPr>
              <a:t>Mayer, R. E., &amp; Moreno, R. (2003). Nine ways to reduce cognitive load in multimedia learning. Educational Psychologist, 38(1), 43–52.</a:t>
            </a:r>
          </a:p>
          <a:p>
            <a:r>
              <a:rPr lang="en-GB" sz="1200" dirty="0">
                <a:latin typeface="Times New Roman" panose="02020603050405020304" pitchFamily="18" charset="0"/>
                <a:cs typeface="Times New Roman" panose="02020603050405020304" pitchFamily="18" charset="0"/>
              </a:rPr>
              <a:t>Paas, F., Renkl, A., &amp; </a:t>
            </a:r>
            <a:r>
              <a:rPr lang="en-GB" sz="1200" dirty="0" err="1">
                <a:latin typeface="Times New Roman" panose="02020603050405020304" pitchFamily="18" charset="0"/>
                <a:cs typeface="Times New Roman" panose="02020603050405020304" pitchFamily="18" charset="0"/>
              </a:rPr>
              <a:t>Sweller</a:t>
            </a:r>
            <a:r>
              <a:rPr lang="en-GB" sz="1200" dirty="0">
                <a:latin typeface="Times New Roman" panose="02020603050405020304" pitchFamily="18" charset="0"/>
                <a:cs typeface="Times New Roman" panose="02020603050405020304" pitchFamily="18" charset="0"/>
              </a:rPr>
              <a:t>, J. (2003). Cognitive load theory and instructional design: Recent developments. Educational Psychologist, 38(1), 1–4.</a:t>
            </a:r>
          </a:p>
          <a:p>
            <a:r>
              <a:rPr lang="en-GB" sz="1200" dirty="0">
                <a:latin typeface="Times New Roman" panose="02020603050405020304" pitchFamily="18" charset="0"/>
                <a:cs typeface="Times New Roman" panose="02020603050405020304" pitchFamily="18" charset="0"/>
              </a:rPr>
              <a:t>van </a:t>
            </a:r>
            <a:r>
              <a:rPr lang="en-GB" sz="1200" dirty="0" err="1">
                <a:latin typeface="Times New Roman" panose="02020603050405020304" pitchFamily="18" charset="0"/>
                <a:cs typeface="Times New Roman" panose="02020603050405020304" pitchFamily="18" charset="0"/>
              </a:rPr>
              <a:t>Merriënboer</a:t>
            </a:r>
            <a:r>
              <a:rPr lang="en-GB" sz="1200" dirty="0">
                <a:latin typeface="Times New Roman" panose="02020603050405020304" pitchFamily="18" charset="0"/>
                <a:cs typeface="Times New Roman" panose="02020603050405020304" pitchFamily="18" charset="0"/>
              </a:rPr>
              <a:t>, J. J. G., &amp; </a:t>
            </a:r>
            <a:r>
              <a:rPr lang="en-GB" sz="1200" dirty="0" err="1">
                <a:latin typeface="Times New Roman" panose="02020603050405020304" pitchFamily="18" charset="0"/>
                <a:cs typeface="Times New Roman" panose="02020603050405020304" pitchFamily="18" charset="0"/>
              </a:rPr>
              <a:t>Sweller</a:t>
            </a:r>
            <a:r>
              <a:rPr lang="en-GB" sz="1200" dirty="0">
                <a:latin typeface="Times New Roman" panose="02020603050405020304" pitchFamily="18" charset="0"/>
                <a:cs typeface="Times New Roman" panose="02020603050405020304" pitchFamily="18" charset="0"/>
              </a:rPr>
              <a:t>, J. (2005). Cognitive load theory and complex learning: Recent developments and future directions. Educational Psychology Review, 17(2), 147–177.</a:t>
            </a:r>
          </a:p>
        </p:txBody>
      </p:sp>
      <p:sp>
        <p:nvSpPr>
          <p:cNvPr id="12" name="Rectangle 11">
            <a:extLst>
              <a:ext uri="{FF2B5EF4-FFF2-40B4-BE49-F238E27FC236}">
                <a16:creationId xmlns:a16="http://schemas.microsoft.com/office/drawing/2014/main" id="{5EDCE6F5-DFD0-FA19-0004-5F1A15AF5966}"/>
              </a:ext>
            </a:extLst>
          </p:cNvPr>
          <p:cNvSpPr/>
          <p:nvPr/>
        </p:nvSpPr>
        <p:spPr>
          <a:xfrm>
            <a:off x="10869386" y="163123"/>
            <a:ext cx="1070822" cy="366963"/>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a:extLst>
              <a:ext uri="{FF2B5EF4-FFF2-40B4-BE49-F238E27FC236}">
                <a16:creationId xmlns:a16="http://schemas.microsoft.com/office/drawing/2014/main" id="{AA3B1AA6-33F1-43CD-B35A-6351B0072A05}"/>
              </a:ext>
            </a:extLst>
          </p:cNvPr>
          <p:cNvSpPr txBox="1"/>
          <p:nvPr/>
        </p:nvSpPr>
        <p:spPr>
          <a:xfrm>
            <a:off x="10842882" y="91068"/>
            <a:ext cx="1178260" cy="523220"/>
          </a:xfrm>
          <a:prstGeom prst="rect">
            <a:avLst/>
          </a:prstGeom>
          <a:noFill/>
        </p:spPr>
        <p:txBody>
          <a:bodyPr wrap="square" rtlCol="0">
            <a:spAutoFit/>
          </a:bodyPr>
          <a:lstStyle/>
          <a:p>
            <a:r>
              <a:rPr lang="en-GB" sz="2800" b="1" i="1" dirty="0">
                <a:solidFill>
                  <a:schemeClr val="bg1"/>
                </a:solidFill>
              </a:rPr>
              <a:t>LOGO</a:t>
            </a:r>
          </a:p>
        </p:txBody>
      </p:sp>
      <p:sp>
        <p:nvSpPr>
          <p:cNvPr id="14" name="TextBox 13">
            <a:extLst>
              <a:ext uri="{FF2B5EF4-FFF2-40B4-BE49-F238E27FC236}">
                <a16:creationId xmlns:a16="http://schemas.microsoft.com/office/drawing/2014/main" id="{14D7C22A-C0D1-D706-27E8-F2EFC7B44A6B}"/>
              </a:ext>
            </a:extLst>
          </p:cNvPr>
          <p:cNvSpPr txBox="1"/>
          <p:nvPr/>
        </p:nvSpPr>
        <p:spPr>
          <a:xfrm>
            <a:off x="10434042" y="503335"/>
            <a:ext cx="1610121" cy="276999"/>
          </a:xfrm>
          <a:prstGeom prst="rect">
            <a:avLst/>
          </a:prstGeom>
          <a:noFill/>
        </p:spPr>
        <p:txBody>
          <a:bodyPr wrap="none" rtlCol="0">
            <a:spAutoFit/>
          </a:bodyPr>
          <a:lstStyle/>
          <a:p>
            <a:r>
              <a:rPr lang="en-GB" sz="1200" b="1" dirty="0">
                <a:latin typeface="Arial Narrow" panose="020B0604020202020204" pitchFamily="34" charset="0"/>
                <a:cs typeface="Arial Narrow" panose="020B0604020202020204" pitchFamily="34" charset="0"/>
              </a:rPr>
              <a:t>Some Meaningless Text</a:t>
            </a:r>
          </a:p>
        </p:txBody>
      </p:sp>
      <p:sp>
        <p:nvSpPr>
          <p:cNvPr id="15" name="TextBox 14">
            <a:extLst>
              <a:ext uri="{FF2B5EF4-FFF2-40B4-BE49-F238E27FC236}">
                <a16:creationId xmlns:a16="http://schemas.microsoft.com/office/drawing/2014/main" id="{87534CC4-269E-AEE9-2556-0438CD801C51}"/>
              </a:ext>
            </a:extLst>
          </p:cNvPr>
          <p:cNvSpPr txBox="1"/>
          <p:nvPr/>
        </p:nvSpPr>
        <p:spPr>
          <a:xfrm>
            <a:off x="10997210" y="688918"/>
            <a:ext cx="1046953" cy="276999"/>
          </a:xfrm>
          <a:prstGeom prst="rect">
            <a:avLst/>
          </a:prstGeom>
          <a:noFill/>
        </p:spPr>
        <p:txBody>
          <a:bodyPr wrap="none" rtlCol="0">
            <a:spAutoFit/>
          </a:bodyPr>
          <a:lstStyle/>
          <a:p>
            <a:r>
              <a:rPr lang="en-GB" sz="1200" dirty="0">
                <a:latin typeface="Arial Narrow" panose="020B0604020202020204" pitchFamily="34" charset="0"/>
                <a:cs typeface="Arial Narrow" panose="020B0604020202020204" pitchFamily="34" charset="0"/>
              </a:rPr>
              <a:t>More Text Here</a:t>
            </a:r>
          </a:p>
        </p:txBody>
      </p:sp>
      <p:sp>
        <p:nvSpPr>
          <p:cNvPr id="16" name="TextBox 15">
            <a:extLst>
              <a:ext uri="{FF2B5EF4-FFF2-40B4-BE49-F238E27FC236}">
                <a16:creationId xmlns:a16="http://schemas.microsoft.com/office/drawing/2014/main" id="{BAFD3D27-76C8-336A-CD69-A2071562D0AE}"/>
              </a:ext>
            </a:extLst>
          </p:cNvPr>
          <p:cNvSpPr txBox="1"/>
          <p:nvPr/>
        </p:nvSpPr>
        <p:spPr>
          <a:xfrm>
            <a:off x="11881208" y="6483015"/>
            <a:ext cx="308098" cy="369332"/>
          </a:xfrm>
          <a:prstGeom prst="rect">
            <a:avLst/>
          </a:prstGeom>
          <a:noFill/>
        </p:spPr>
        <p:txBody>
          <a:bodyPr wrap="none" rtlCol="0">
            <a:spAutoFit/>
          </a:bodyPr>
          <a:lstStyle/>
          <a:p>
            <a:r>
              <a:rPr lang="en-GB" dirty="0"/>
              <a:t>1</a:t>
            </a:r>
          </a:p>
        </p:txBody>
      </p:sp>
      <p:cxnSp>
        <p:nvCxnSpPr>
          <p:cNvPr id="18" name="Straight Connector 17">
            <a:extLst>
              <a:ext uri="{FF2B5EF4-FFF2-40B4-BE49-F238E27FC236}">
                <a16:creationId xmlns:a16="http://schemas.microsoft.com/office/drawing/2014/main" id="{4CF4165B-F010-6C64-94CF-A6EC794303C4}"/>
              </a:ext>
            </a:extLst>
          </p:cNvPr>
          <p:cNvCxnSpPr/>
          <p:nvPr/>
        </p:nvCxnSpPr>
        <p:spPr>
          <a:xfrm>
            <a:off x="2082084" y="780334"/>
            <a:ext cx="772733" cy="0"/>
          </a:xfrm>
          <a:prstGeom prst="line">
            <a:avLst/>
          </a:prstGeom>
          <a:ln>
            <a:solidFill>
              <a:srgbClr val="FF0000"/>
            </a:solidFill>
            <a:prstDash val="sysDot"/>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337CBA57-78B6-538F-6B9C-D44B07CB2DB0}"/>
              </a:ext>
            </a:extLst>
          </p:cNvPr>
          <p:cNvCxnSpPr>
            <a:cxnSpLocks/>
          </p:cNvCxnSpPr>
          <p:nvPr/>
        </p:nvCxnSpPr>
        <p:spPr>
          <a:xfrm>
            <a:off x="191893" y="6229524"/>
            <a:ext cx="491850" cy="0"/>
          </a:xfrm>
          <a:prstGeom prst="line">
            <a:avLst/>
          </a:prstGeom>
          <a:ln w="12700">
            <a:solidFill>
              <a:srgbClr val="FF0000"/>
            </a:solidFill>
            <a:prstDash val="sysDot"/>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D38C98E6-85DE-978C-D0A2-EE2CA8C155B3}"/>
              </a:ext>
            </a:extLst>
          </p:cNvPr>
          <p:cNvCxnSpPr>
            <a:cxnSpLocks/>
          </p:cNvCxnSpPr>
          <p:nvPr/>
        </p:nvCxnSpPr>
        <p:spPr>
          <a:xfrm>
            <a:off x="1534918" y="6593854"/>
            <a:ext cx="491850" cy="0"/>
          </a:xfrm>
          <a:prstGeom prst="line">
            <a:avLst/>
          </a:prstGeom>
          <a:ln w="12700">
            <a:solidFill>
              <a:srgbClr val="FF0000"/>
            </a:solidFill>
            <a:prstDash val="sysDot"/>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AC508D57-23E4-C5A4-EF82-5D95304C312D}"/>
              </a:ext>
            </a:extLst>
          </p:cNvPr>
          <p:cNvCxnSpPr>
            <a:cxnSpLocks/>
          </p:cNvCxnSpPr>
          <p:nvPr/>
        </p:nvCxnSpPr>
        <p:spPr>
          <a:xfrm>
            <a:off x="437818" y="6775624"/>
            <a:ext cx="757100" cy="0"/>
          </a:xfrm>
          <a:prstGeom prst="line">
            <a:avLst/>
          </a:prstGeom>
          <a:ln w="12700">
            <a:solidFill>
              <a:srgbClr val="FF0000"/>
            </a:solidFill>
            <a:prstDash val="sysDot"/>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C807AEB2-0587-F53F-FE60-18CA6F018B30}"/>
              </a:ext>
            </a:extLst>
          </p:cNvPr>
          <p:cNvCxnSpPr>
            <a:cxnSpLocks/>
          </p:cNvCxnSpPr>
          <p:nvPr/>
        </p:nvCxnSpPr>
        <p:spPr>
          <a:xfrm>
            <a:off x="1922268" y="6779117"/>
            <a:ext cx="491850" cy="0"/>
          </a:xfrm>
          <a:prstGeom prst="line">
            <a:avLst/>
          </a:prstGeom>
          <a:ln w="12700">
            <a:solidFill>
              <a:srgbClr val="FF0000"/>
            </a:solidFill>
            <a:prstDash val="sysDot"/>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102366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TotalTime>
  <Words>359</Words>
  <Application>Microsoft Macintosh PowerPoint</Application>
  <PresentationFormat>Widescreen</PresentationFormat>
  <Paragraphs>24</Paragraphs>
  <Slides>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vt:i4>
      </vt:variant>
    </vt:vector>
  </HeadingPairs>
  <TitlesOfParts>
    <vt:vector size="9" baseType="lpstr">
      <vt:lpstr>Aptos</vt:lpstr>
      <vt:lpstr>Aptos Display</vt:lpstr>
      <vt:lpstr>Arial</vt:lpstr>
      <vt:lpstr>Arial Narrow</vt:lpstr>
      <vt:lpstr>Helvetica Neue Medium</vt:lpstr>
      <vt:lpstr>Times New Roman</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Robinson, Adrian J</dc:creator>
  <cp:lastModifiedBy>Robinson, Adrian J</cp:lastModifiedBy>
  <cp:revision>9</cp:revision>
  <cp:lastPrinted>2026-05-23T16:51:06Z</cp:lastPrinted>
  <dcterms:created xsi:type="dcterms:W3CDTF">2026-05-23T16:00:49Z</dcterms:created>
  <dcterms:modified xsi:type="dcterms:W3CDTF">2026-05-23T16:57:38Z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5e1b534-098f-4ac8-9223-69712ddf82de_Enabled">
    <vt:lpwstr>true</vt:lpwstr>
  </property>
  <property fmtid="{D5CDD505-2E9C-101B-9397-08002B2CF9AE}" pid="3" name="MSIP_Label_55e1b534-098f-4ac8-9223-69712ddf82de_SetDate">
    <vt:lpwstr>2026-05-23T16:39:52Z</vt:lpwstr>
  </property>
  <property fmtid="{D5CDD505-2E9C-101B-9397-08002B2CF9AE}" pid="4" name="MSIP_Label_55e1b534-098f-4ac8-9223-69712ddf82de_Method">
    <vt:lpwstr>Standard</vt:lpwstr>
  </property>
  <property fmtid="{D5CDD505-2E9C-101B-9397-08002B2CF9AE}" pid="5" name="MSIP_Label_55e1b534-098f-4ac8-9223-69712ddf82de_Name">
    <vt:lpwstr>Public Document</vt:lpwstr>
  </property>
  <property fmtid="{D5CDD505-2E9C-101B-9397-08002B2CF9AE}" pid="6" name="MSIP_Label_55e1b534-098f-4ac8-9223-69712ddf82de_SiteId">
    <vt:lpwstr>c9ef029c-18cf-4016-86d3-93cf8e94ff94</vt:lpwstr>
  </property>
  <property fmtid="{D5CDD505-2E9C-101B-9397-08002B2CF9AE}" pid="7" name="MSIP_Label_55e1b534-098f-4ac8-9223-69712ddf82de_ActionId">
    <vt:lpwstr>0c116a5a-b5ca-401a-9624-d32cf6050b82</vt:lpwstr>
  </property>
  <property fmtid="{D5CDD505-2E9C-101B-9397-08002B2CF9AE}" pid="8" name="MSIP_Label_55e1b534-098f-4ac8-9223-69712ddf82de_ContentBits">
    <vt:lpwstr>0</vt:lpwstr>
  </property>
  <property fmtid="{D5CDD505-2E9C-101B-9397-08002B2CF9AE}" pid="9" name="MSIP_Label_55e1b534-098f-4ac8-9223-69712ddf82de_Tag">
    <vt:lpwstr>50, 3, 0, 1</vt:lpwstr>
  </property>
</Properties>
</file>