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6" r:id="rId2"/>
    <p:sldId id="256" r:id="rId3"/>
    <p:sldId id="264" r:id="rId4"/>
    <p:sldId id="263"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D73B4"/>
    <a:srgbClr val="9288CE"/>
    <a:srgbClr val="453C6C"/>
    <a:srgbClr val="FF0000"/>
    <a:srgbClr val="7F98AF"/>
    <a:srgbClr val="D30CAF"/>
    <a:srgbClr val="008080"/>
    <a:srgbClr val="06B050"/>
    <a:srgbClr val="D20F38"/>
    <a:srgbClr val="3F9F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38"/>
    <p:restoredTop sz="66648"/>
  </p:normalViewPr>
  <p:slideViewPr>
    <p:cSldViewPr snapToGrid="0">
      <p:cViewPr varScale="1">
        <p:scale>
          <a:sx n="102" d="100"/>
          <a:sy n="102" d="100"/>
        </p:scale>
        <p:origin x="15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0D60C7-EF37-5C47-95A6-A66134469795}" type="datetimeFigureOut">
              <a:rPr lang="en-GB" smtClean="0"/>
              <a:t>03/06/2026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15A182-B882-8249-8DBD-31130BD49A19}" type="slidenum">
              <a:rPr lang="en-GB" smtClean="0"/>
              <a:t>‹#›</a:t>
            </a:fld>
            <a:endParaRPr lang="en-GB"/>
          </a:p>
        </p:txBody>
      </p:sp>
    </p:spTree>
    <p:extLst>
      <p:ext uri="{BB962C8B-B14F-4D97-AF65-F5344CB8AC3E}">
        <p14:creationId xmlns:p14="http://schemas.microsoft.com/office/powerpoint/2010/main" val="880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6624A-FB81-9F53-C6AD-A50974F87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C7F13-0F37-CEB6-2768-3341035BC8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2361E-F672-DF00-5B5D-88AB33D15589}"/>
              </a:ext>
            </a:extLst>
          </p:cNvPr>
          <p:cNvSpPr>
            <a:spLocks noGrp="1"/>
          </p:cNvSpPr>
          <p:nvPr>
            <p:ph type="body" idx="1"/>
          </p:nvPr>
        </p:nvSpPr>
        <p:spPr/>
        <p:txBody>
          <a:bodyPr/>
          <a:lstStyle/>
          <a:p>
            <a:r>
              <a:rPr lang="en-GB" b="1" dirty="0"/>
              <a:t>TIMING (15 mins presentation)</a:t>
            </a:r>
          </a:p>
          <a:p>
            <a:endParaRPr lang="en-GB" b="1" dirty="0"/>
          </a:p>
          <a:p>
            <a:r>
              <a:rPr lang="en-GB" b="1" dirty="0"/>
              <a:t>NOTES</a:t>
            </a:r>
          </a:p>
          <a:p>
            <a:endParaRPr lang="en-GB" dirty="0"/>
          </a:p>
          <a:p>
            <a:r>
              <a:rPr lang="en-GB" dirty="0"/>
              <a:t>Before you use this script: This is a starter, not a straitjacket. The words are written to be stolen, adapted, and made yours.</a:t>
            </a:r>
          </a:p>
          <a:p>
            <a:endParaRPr lang="en-GB" dirty="0"/>
          </a:p>
          <a:p>
            <a:r>
              <a:rPr lang="en-GB" dirty="0"/>
              <a:t>Read them through once, then set them aside.</a:t>
            </a:r>
          </a:p>
          <a:p>
            <a:r>
              <a:rPr lang="en-GB" dirty="0"/>
              <a:t>Facilitators who read from a script teach </a:t>
            </a:r>
            <a:r>
              <a:rPr lang="en-GB" b="1" dirty="0"/>
              <a:t>at</a:t>
            </a:r>
            <a:r>
              <a:rPr lang="en-GB" dirty="0"/>
              <a:t> a room. </a:t>
            </a:r>
          </a:p>
          <a:p>
            <a:r>
              <a:rPr lang="en-GB" dirty="0"/>
              <a:t>Facilitators who </a:t>
            </a:r>
            <a:r>
              <a:rPr lang="en-GB" b="1" dirty="0"/>
              <a:t>know the ideas </a:t>
            </a:r>
            <a:r>
              <a:rPr lang="en-GB" dirty="0"/>
              <a:t>well enough to improvise teach </a:t>
            </a:r>
            <a:r>
              <a:rPr lang="en-GB" b="1" dirty="0"/>
              <a:t>with</a:t>
            </a:r>
            <a:r>
              <a:rPr lang="en-GB" dirty="0"/>
              <a:t> one.</a:t>
            </a:r>
          </a:p>
          <a:p>
            <a:endParaRPr lang="en-GB" dirty="0"/>
          </a:p>
          <a:p>
            <a:r>
              <a:rPr lang="en-GB" dirty="0"/>
              <a:t>Format: Each slide has two sections —Script (suggested spoken words), and Notes (pedagogy background for those less familiar with the theory).</a:t>
            </a:r>
          </a:p>
          <a:p>
            <a:r>
              <a:rPr lang="en-GB" dirty="0"/>
              <a:t>You will find cross-references to Sessions 2 and 3 where content is deliberately deferred.</a:t>
            </a:r>
          </a:p>
          <a:p>
            <a:endParaRPr lang="en-GB" dirty="0"/>
          </a:p>
          <a:p>
            <a:r>
              <a:rPr lang="en-GB" dirty="0"/>
              <a:t>Non-negotiable: No bullet points. No text-heavy slides.</a:t>
            </a:r>
          </a:p>
          <a:p>
            <a:r>
              <a:rPr lang="en-GB" dirty="0"/>
              <a:t>You are the exemplar from the moment this section begins.</a:t>
            </a:r>
          </a:p>
          <a:p>
            <a:r>
              <a:rPr lang="en-GB" dirty="0"/>
              <a:t>If your slides contain dense text while you talk about cognitive load, you have lost the room before you have said a word.</a:t>
            </a:r>
          </a:p>
          <a:p>
            <a:endParaRPr lang="en-GB" dirty="0"/>
          </a:p>
          <a:p>
            <a:endParaRPr lang="en-GB" dirty="0"/>
          </a:p>
          <a:p>
            <a:r>
              <a:rPr lang="en-GB" dirty="0"/>
              <a:t>© Teaching that Sticks, Creative Commons BY 4.0 https://</a:t>
            </a:r>
            <a:r>
              <a:rPr lang="en-GB" dirty="0" err="1"/>
              <a:t>creativecommons.org</a:t>
            </a:r>
            <a:r>
              <a:rPr lang="en-GB" dirty="0"/>
              <a:t>/licenses/by/4.0/</a:t>
            </a:r>
          </a:p>
        </p:txBody>
      </p:sp>
      <p:sp>
        <p:nvSpPr>
          <p:cNvPr id="4" name="Slide Number Placeholder 3">
            <a:extLst>
              <a:ext uri="{FF2B5EF4-FFF2-40B4-BE49-F238E27FC236}">
                <a16:creationId xmlns:a16="http://schemas.microsoft.com/office/drawing/2014/main" id="{7807B2B4-4C0D-3C65-A944-DADB55C5C6FE}"/>
              </a:ext>
            </a:extLst>
          </p:cNvPr>
          <p:cNvSpPr>
            <a:spLocks noGrp="1"/>
          </p:cNvSpPr>
          <p:nvPr>
            <p:ph type="sldNum" sz="quarter" idx="5"/>
          </p:nvPr>
        </p:nvSpPr>
        <p:spPr/>
        <p:txBody>
          <a:bodyPr/>
          <a:lstStyle/>
          <a:p>
            <a:fld id="{1A15A182-B882-8249-8DBD-31130BD49A19}" type="slidenum">
              <a:rPr lang="en-GB" smtClean="0"/>
              <a:t>1</a:t>
            </a:fld>
            <a:endParaRPr lang="en-GB"/>
          </a:p>
        </p:txBody>
      </p:sp>
    </p:spTree>
    <p:extLst>
      <p:ext uri="{BB962C8B-B14F-4D97-AF65-F5344CB8AC3E}">
        <p14:creationId xmlns:p14="http://schemas.microsoft.com/office/powerpoint/2010/main" val="1139841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TIMING +3 mins</a:t>
            </a:r>
          </a:p>
          <a:p>
            <a:endParaRPr lang="en-GB" b="1" dirty="0"/>
          </a:p>
          <a:p>
            <a:r>
              <a:rPr lang="en-GB" b="1" dirty="0"/>
              <a:t>SCRIPT</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i="0" dirty="0"/>
              <a:t>Before I say anything — </a:t>
            </a:r>
            <a:r>
              <a:rPr lang="en-GB" b="1" i="0" dirty="0"/>
              <a:t>what do you notice when you look at those two images</a:t>
            </a:r>
            <a:r>
              <a:rPr lang="en-GB" i="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i="0" dirty="0"/>
              <a:t>(Pause. Let them look. 5–8 seconds is not too long.)</a:t>
            </a:r>
          </a:p>
          <a:p>
            <a:endParaRPr lang="en-GB" i="0" dirty="0"/>
          </a:p>
          <a:p>
            <a:r>
              <a:rPr lang="en-GB" i="0" dirty="0"/>
              <a:t>Same product category. One of them probably outsold the other. The simpler, more expensive one. That's not a coincidence. It's cognitive load.</a:t>
            </a:r>
          </a:p>
          <a:p>
            <a:endParaRPr lang="en-GB" i="0" dirty="0"/>
          </a:p>
          <a:p>
            <a:r>
              <a:rPr lang="en-GB" i="0" dirty="0"/>
              <a:t>In </a:t>
            </a:r>
            <a:r>
              <a:rPr lang="en-GB" b="1" i="0" dirty="0"/>
              <a:t>1988</a:t>
            </a:r>
            <a:r>
              <a:rPr lang="en-GB" i="0" dirty="0"/>
              <a:t>, a cognitive scientist called John </a:t>
            </a:r>
            <a:r>
              <a:rPr lang="en-GB" b="1" i="0" dirty="0"/>
              <a:t>Sweller</a:t>
            </a:r>
            <a:r>
              <a:rPr lang="en-GB" i="0" dirty="0"/>
              <a:t> described something that most teachers already know but rarely have words for: </a:t>
            </a:r>
            <a:r>
              <a:rPr lang="en-GB" b="1" i="0" dirty="0"/>
              <a:t>working memory is severely limited</a:t>
            </a:r>
            <a:r>
              <a:rPr lang="en-GB" i="0" dirty="0"/>
              <a:t>.</a:t>
            </a:r>
          </a:p>
          <a:p>
            <a:r>
              <a:rPr lang="en-GB" i="0" dirty="0"/>
              <a:t>Not a little limited — severely. </a:t>
            </a:r>
          </a:p>
          <a:p>
            <a:r>
              <a:rPr lang="en-GB" i="0" dirty="0"/>
              <a:t>It holds roughly </a:t>
            </a:r>
            <a:r>
              <a:rPr lang="en-GB" b="1" i="0" dirty="0"/>
              <a:t>four chunks of information at once</a:t>
            </a:r>
            <a:r>
              <a:rPr lang="en-GB" i="0" dirty="0"/>
              <a:t>.</a:t>
            </a:r>
          </a:p>
          <a:p>
            <a:r>
              <a:rPr lang="en-GB" b="1" i="0" dirty="0"/>
              <a:t>When you overload it</a:t>
            </a:r>
            <a:r>
              <a:rPr lang="en-GB" i="0" dirty="0"/>
              <a:t>, learning doesn't slow down. </a:t>
            </a:r>
            <a:r>
              <a:rPr lang="en-GB" b="1" i="0" dirty="0"/>
              <a:t>It stops.</a:t>
            </a:r>
          </a:p>
          <a:p>
            <a:endParaRPr lang="en-GB" i="0" dirty="0"/>
          </a:p>
          <a:p>
            <a:r>
              <a:rPr lang="en-GB" i="0" dirty="0"/>
              <a:t>He called it cognitive load. And he described three kinds.</a:t>
            </a:r>
          </a:p>
          <a:p>
            <a:endParaRPr lang="en-GB" i="0" dirty="0"/>
          </a:p>
          <a:p>
            <a:pPr marL="228600" indent="-228600">
              <a:buAutoNum type="arabicPeriod"/>
            </a:pPr>
            <a:r>
              <a:rPr lang="en-GB" i="0" dirty="0"/>
              <a:t>The first is </a:t>
            </a:r>
            <a:r>
              <a:rPr lang="en-GB" b="1" i="0" dirty="0"/>
              <a:t>intrinsic</a:t>
            </a:r>
            <a:r>
              <a:rPr lang="en-GB" i="0" dirty="0"/>
              <a:t> load — the </a:t>
            </a:r>
            <a:r>
              <a:rPr lang="en-GB" b="1" i="0" dirty="0"/>
              <a:t>complexity that belongs to the content </a:t>
            </a:r>
            <a:r>
              <a:rPr lang="en-GB" i="0" dirty="0"/>
              <a:t>itself. If you're teaching ABCDE assessment to someone who's never seen it, that has an inherent level of difficulty. You can scaffold it, but you can't wish it away.</a:t>
            </a:r>
          </a:p>
          <a:p>
            <a:pPr marL="228600" indent="-228600">
              <a:buAutoNum type="arabicPeriod"/>
            </a:pPr>
            <a:endParaRPr lang="en-GB" i="0" dirty="0"/>
          </a:p>
          <a:p>
            <a:pPr marL="228600" indent="-228600">
              <a:buAutoNum type="arabicPeriod"/>
            </a:pPr>
            <a:r>
              <a:rPr lang="en-GB" i="0" dirty="0"/>
              <a:t>The second is </a:t>
            </a:r>
            <a:r>
              <a:rPr lang="en-GB" b="1" i="0" dirty="0"/>
              <a:t>germane </a:t>
            </a:r>
            <a:r>
              <a:rPr lang="en-GB" i="0" dirty="0"/>
              <a:t>load — the </a:t>
            </a:r>
            <a:r>
              <a:rPr lang="en-GB" b="1" i="0" dirty="0"/>
              <a:t>useful mental effort of actually learning</a:t>
            </a:r>
            <a:r>
              <a:rPr lang="en-GB" i="0" dirty="0"/>
              <a:t>. Making connections, building schemas, transferring knowledge to long-term memory. This is the load we want</a:t>
            </a:r>
          </a:p>
          <a:p>
            <a:pPr marL="228600" indent="-228600">
              <a:buAutoNum type="arabicPeriod"/>
            </a:pPr>
            <a:endParaRPr lang="en-GB" i="0" dirty="0"/>
          </a:p>
          <a:p>
            <a:pPr marL="228600" indent="-228600">
              <a:buAutoNum type="arabicPeriod"/>
            </a:pPr>
            <a:r>
              <a:rPr lang="en-GB" i="0" dirty="0"/>
              <a:t>The third — and this is the one we control — is </a:t>
            </a:r>
            <a:r>
              <a:rPr lang="en-GB" b="1" i="0" dirty="0"/>
              <a:t>extraneous</a:t>
            </a:r>
            <a:r>
              <a:rPr lang="en-GB" i="0" dirty="0"/>
              <a:t> load. The noise. The </a:t>
            </a:r>
            <a:r>
              <a:rPr lang="en-GB" b="1" i="0" dirty="0"/>
              <a:t>cognitive effort spent on navigating the presentation </a:t>
            </a:r>
            <a:r>
              <a:rPr lang="en-GB" i="0" dirty="0"/>
              <a:t>rather than learning the content.</a:t>
            </a:r>
          </a:p>
          <a:p>
            <a:endParaRPr lang="en-GB" i="0" dirty="0"/>
          </a:p>
          <a:p>
            <a:r>
              <a:rPr lang="en-GB" i="0" dirty="0"/>
              <a:t>That slide you saw at the start? Every element — the fonts, the clip art, the illegible graph, the eleven bullet points — was extraneous load.</a:t>
            </a:r>
          </a:p>
          <a:p>
            <a:r>
              <a:rPr lang="en-GB" i="0" dirty="0"/>
              <a:t>Your working memory spent its capacity trying to process the slide.</a:t>
            </a:r>
          </a:p>
          <a:p>
            <a:r>
              <a:rPr lang="en-GB" i="0" dirty="0"/>
              <a:t>Nothing was left for the actual learning.</a:t>
            </a:r>
          </a:p>
          <a:p>
            <a:endParaRPr lang="en-GB" i="0" dirty="0"/>
          </a:p>
          <a:p>
            <a:r>
              <a:rPr lang="en-GB" i="0" dirty="0"/>
              <a:t>The market and the shop. </a:t>
            </a:r>
            <a:r>
              <a:rPr lang="en-GB" b="1" i="0" dirty="0"/>
              <a:t>Same content. One teaches. One doesn’t.</a:t>
            </a:r>
          </a:p>
          <a:p>
            <a:endParaRPr lang="en-GB" i="0" dirty="0"/>
          </a:p>
          <a:p>
            <a:endParaRPr lang="en-GB" i="1" dirty="0"/>
          </a:p>
          <a:p>
            <a:r>
              <a:rPr lang="en-GB" b="1" dirty="0"/>
              <a:t>NOTES</a:t>
            </a:r>
          </a:p>
          <a:p>
            <a:endParaRPr lang="en-GB" dirty="0"/>
          </a:p>
          <a:p>
            <a:r>
              <a:rPr lang="en-GB" i="1" dirty="0"/>
              <a:t>Why this matters:</a:t>
            </a:r>
            <a:r>
              <a:rPr lang="en-GB" dirty="0"/>
              <a:t> Cognitive load theory is probably the most directly applicable piece of learning science for people who design teaching materials.</a:t>
            </a:r>
          </a:p>
          <a:p>
            <a:r>
              <a:rPr lang="en-GB" dirty="0"/>
              <a:t>It gives teachers a principled reason to simplify — not because it looks nicer, but because complexity actively blocks encoding.</a:t>
            </a:r>
          </a:p>
          <a:p>
            <a:endParaRPr lang="en-GB" i="1" dirty="0"/>
          </a:p>
          <a:p>
            <a:r>
              <a:rPr lang="en-GB" i="1" dirty="0"/>
              <a:t>For less familiar facilitators:</a:t>
            </a:r>
            <a:r>
              <a:rPr lang="en-GB" dirty="0"/>
              <a:t> </a:t>
            </a:r>
            <a:r>
              <a:rPr lang="en-GB" dirty="0" err="1"/>
              <a:t>Sweller's</a:t>
            </a:r>
            <a:r>
              <a:rPr lang="en-GB" dirty="0"/>
              <a:t> original paper (1988) was about problem-solving in mathematics, but the implications for instructional design became the more influential contribution. The "four chunks" figure comes from Cowan (2001), who revised Miller's famous "seven plus or minus two" — the newer figure is more conservative and better supported.</a:t>
            </a:r>
          </a:p>
          <a:p>
            <a:endParaRPr lang="en-GB" dirty="0"/>
          </a:p>
          <a:p>
            <a:r>
              <a:rPr lang="en-GB" i="1" dirty="0"/>
              <a:t>Watch for:</a:t>
            </a:r>
            <a:r>
              <a:rPr lang="en-GB" dirty="0"/>
              <a:t> Participants sometimes push back with "but my learners are experienced clinicians — surely they can handle complexity?”</a:t>
            </a:r>
          </a:p>
          <a:p>
            <a:r>
              <a:rPr lang="en-GB" dirty="0"/>
              <a:t>Acknowledge it: experienced learners have larger domain-specific schemas, which reduces intrinsic load for familiar content.</a:t>
            </a:r>
          </a:p>
          <a:p>
            <a:r>
              <a:rPr lang="en-GB" dirty="0"/>
              <a:t>They are not immune to extraneous load, particularly in novel domains or under time pressure.</a:t>
            </a:r>
          </a:p>
          <a:p>
            <a:r>
              <a:rPr lang="en-GB" dirty="0"/>
              <a:t>The clinical educator presenting to a mixed-expertise group needs this principle most.</a:t>
            </a:r>
          </a:p>
          <a:p>
            <a:endParaRPr lang="en-GB" i="1" dirty="0"/>
          </a:p>
          <a:p>
            <a:r>
              <a:rPr lang="en-GB" i="1" dirty="0"/>
              <a:t>Cross-reference:</a:t>
            </a:r>
            <a:r>
              <a:rPr lang="en-GB" dirty="0"/>
              <a:t> The three-load model is introduced here and not revisited in S2 or S3.</a:t>
            </a:r>
          </a:p>
          <a:p>
            <a:r>
              <a:rPr lang="en-GB" dirty="0"/>
              <a:t>If participants want deeper reading, point them to the Theory Library on the site.</a:t>
            </a:r>
          </a:p>
          <a:p>
            <a:endParaRPr lang="en-GB" dirty="0"/>
          </a:p>
          <a:p>
            <a:r>
              <a:rPr lang="en-GB" b="1" dirty="0"/>
              <a:t>IMAGE CREDITS</a:t>
            </a:r>
          </a:p>
          <a:p>
            <a:endParaRPr lang="en-GB" b="1" dirty="0"/>
          </a:p>
          <a:p>
            <a:r>
              <a:rPr lang="en-GB" dirty="0"/>
              <a:t>Left image:</a:t>
            </a:r>
          </a:p>
          <a:p>
            <a:r>
              <a:rPr lang="en-GB" sz="1200" b="0" i="0" kern="1200" dirty="0">
                <a:solidFill>
                  <a:schemeClr val="tx1"/>
                </a:solidFill>
                <a:effectLst/>
                <a:latin typeface="+mn-lt"/>
                <a:ea typeface="+mn-ea"/>
                <a:cs typeface="+mn-cs"/>
              </a:rPr>
              <a:t>"Navy Exchange Black Friday 2011 Ad Scan - Page 7” by </a:t>
            </a:r>
            <a:r>
              <a:rPr lang="en-GB" sz="1200" b="0" i="0" kern="1200" dirty="0" err="1">
                <a:solidFill>
                  <a:schemeClr val="tx1"/>
                </a:solidFill>
                <a:effectLst/>
                <a:latin typeface="+mn-lt"/>
                <a:ea typeface="+mn-ea"/>
                <a:cs typeface="+mn-cs"/>
              </a:rPr>
              <a:t>Hotcouponworld.com</a:t>
            </a:r>
            <a:r>
              <a:rPr lang="en-GB" sz="1200" b="0" i="0" kern="1200" dirty="0">
                <a:solidFill>
                  <a:schemeClr val="tx1"/>
                </a:solidFill>
                <a:effectLst/>
                <a:latin typeface="+mn-lt"/>
                <a:ea typeface="+mn-ea"/>
                <a:cs typeface="+mn-cs"/>
              </a:rPr>
              <a:t>, licensed under CC BY-SA 2.0</a:t>
            </a:r>
          </a:p>
          <a:p>
            <a:r>
              <a:rPr lang="en-GB" dirty="0"/>
              <a:t>https://</a:t>
            </a:r>
            <a:r>
              <a:rPr lang="en-GB" dirty="0" err="1"/>
              <a:t>openverse.org</a:t>
            </a:r>
            <a:r>
              <a:rPr lang="en-GB" dirty="0"/>
              <a:t>/image/f564d68c-6499-4314-ba86-f1c4dd8fac11</a:t>
            </a:r>
          </a:p>
          <a:p>
            <a:endParaRPr lang="en-GB" dirty="0"/>
          </a:p>
          <a:p>
            <a:r>
              <a:rPr lang="en-GB" dirty="0"/>
              <a:t>Right image:</a:t>
            </a:r>
          </a:p>
          <a:p>
            <a:r>
              <a:rPr lang="en-GB" sz="1200" b="0" i="0" kern="1200" dirty="0">
                <a:solidFill>
                  <a:schemeClr val="tx1"/>
                </a:solidFill>
                <a:effectLst/>
                <a:latin typeface="+mn-lt"/>
                <a:ea typeface="+mn-ea"/>
                <a:cs typeface="+mn-cs"/>
              </a:rPr>
              <a:t>"MacBook advert" by Toby Shuttleworth, licensed under CC BY 2.0.</a:t>
            </a:r>
            <a:endParaRPr lang="en-GB" dirty="0"/>
          </a:p>
          <a:p>
            <a:r>
              <a:rPr lang="en-GB" dirty="0"/>
              <a:t>https://</a:t>
            </a:r>
            <a:r>
              <a:rPr lang="en-GB" dirty="0" err="1"/>
              <a:t>openverse.org</a:t>
            </a:r>
            <a:r>
              <a:rPr lang="en-GB" dirty="0"/>
              <a:t>/image/8962af27-38b6-4533-b2a3-0d249d64d468</a:t>
            </a:r>
          </a:p>
        </p:txBody>
      </p:sp>
      <p:sp>
        <p:nvSpPr>
          <p:cNvPr id="4" name="Slide Number Placeholder 3"/>
          <p:cNvSpPr>
            <a:spLocks noGrp="1"/>
          </p:cNvSpPr>
          <p:nvPr>
            <p:ph type="sldNum" sz="quarter" idx="5"/>
          </p:nvPr>
        </p:nvSpPr>
        <p:spPr/>
        <p:txBody>
          <a:bodyPr/>
          <a:lstStyle/>
          <a:p>
            <a:fld id="{1A15A182-B882-8249-8DBD-31130BD49A19}" type="slidenum">
              <a:rPr lang="en-GB" smtClean="0"/>
              <a:t>2</a:t>
            </a:fld>
            <a:endParaRPr lang="en-GB"/>
          </a:p>
        </p:txBody>
      </p:sp>
    </p:spTree>
    <p:extLst>
      <p:ext uri="{BB962C8B-B14F-4D97-AF65-F5344CB8AC3E}">
        <p14:creationId xmlns:p14="http://schemas.microsoft.com/office/powerpoint/2010/main" val="124573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5EDE-EF8B-215A-BB47-F80E7D778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2414F5-E412-44EE-CCBD-2E770C783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CC287-A38F-CF50-0E47-9A7D1195D1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TIMING +6 mins</a:t>
            </a:r>
          </a:p>
          <a:p>
            <a:endParaRPr lang="en-GB" b="1" dirty="0"/>
          </a:p>
          <a:p>
            <a:r>
              <a:rPr lang="en-GB" b="1" dirty="0"/>
              <a:t>SCRIPT</a:t>
            </a:r>
          </a:p>
          <a:p>
            <a:endParaRPr lang="en-GB" dirty="0"/>
          </a:p>
          <a:p>
            <a:r>
              <a:rPr lang="en-GB" i="0" dirty="0"/>
              <a:t>Here's the brain’s architecture.</a:t>
            </a:r>
          </a:p>
          <a:p>
            <a:r>
              <a:rPr lang="en-GB" i="0" dirty="0"/>
              <a:t>We have a small working memory — and large, basically unlimited long-term memory — and a narrow bottleneck between them.</a:t>
            </a:r>
          </a:p>
          <a:p>
            <a:endParaRPr lang="en-GB" i="0" dirty="0"/>
          </a:p>
          <a:p>
            <a:r>
              <a:rPr lang="en-GB" b="1" i="0" dirty="0"/>
              <a:t>Learning is the process of moving something from here to here.</a:t>
            </a:r>
            <a:r>
              <a:rPr lang="en-GB" i="0" dirty="0"/>
              <a:t> Through that bottleneck.</a:t>
            </a:r>
          </a:p>
          <a:p>
            <a:endParaRPr lang="en-GB" i="0" dirty="0"/>
          </a:p>
          <a:p>
            <a:r>
              <a:rPr lang="en-GB" i="0" dirty="0"/>
              <a:t>Everything about how we design teaching is </a:t>
            </a:r>
            <a:r>
              <a:rPr lang="en-GB" b="1" i="0" dirty="0"/>
              <a:t>either helping </a:t>
            </a:r>
            <a:r>
              <a:rPr lang="en-GB" i="0" dirty="0"/>
              <a:t>that process — </a:t>
            </a:r>
            <a:r>
              <a:rPr lang="en-GB" b="1" i="0" dirty="0"/>
              <a:t>or obstructing </a:t>
            </a:r>
            <a:r>
              <a:rPr lang="en-GB" i="0" dirty="0"/>
              <a:t>it.</a:t>
            </a:r>
          </a:p>
          <a:p>
            <a:endParaRPr lang="en-GB" i="0" dirty="0"/>
          </a:p>
          <a:p>
            <a:r>
              <a:rPr lang="en-GB" i="0" dirty="0"/>
              <a:t>When you put everything you want to say on a slide, you are not helping your learner.</a:t>
            </a:r>
          </a:p>
          <a:p>
            <a:r>
              <a:rPr lang="en-GB" i="0" dirty="0"/>
              <a:t>You are </a:t>
            </a:r>
            <a:r>
              <a:rPr lang="en-GB" b="1" i="0" dirty="0"/>
              <a:t>giving your own working memory a rest and taxing theirs</a:t>
            </a:r>
            <a:r>
              <a:rPr lang="en-GB" i="0" dirty="0"/>
              <a:t>.</a:t>
            </a:r>
          </a:p>
          <a:p>
            <a:endParaRPr lang="en-GB" i="0" dirty="0"/>
          </a:p>
          <a:p>
            <a:r>
              <a:rPr lang="en-GB" i="0" dirty="0"/>
              <a:t>We'll come back to what that means for how you design activities — not just slides — in Session 2.</a:t>
            </a:r>
          </a:p>
          <a:p>
            <a:endParaRPr lang="en-GB" i="0" dirty="0"/>
          </a:p>
          <a:p>
            <a:r>
              <a:rPr lang="en-GB" i="0" dirty="0"/>
              <a:t>For now, hold this: the bottleneck is real, it's narrow, and </a:t>
            </a:r>
            <a:r>
              <a:rPr lang="en-GB" b="1" i="0" dirty="0"/>
              <a:t>you are responsible for how much traffic you push through it</a:t>
            </a:r>
            <a:r>
              <a:rPr lang="en-GB" i="0" dirty="0"/>
              <a:t>.</a:t>
            </a:r>
          </a:p>
          <a:p>
            <a:endParaRPr lang="en-GB" dirty="0"/>
          </a:p>
          <a:p>
            <a:r>
              <a:rPr lang="en-GB" b="1" dirty="0"/>
              <a:t>NOTES</a:t>
            </a:r>
            <a:endParaRPr lang="en-GB" dirty="0"/>
          </a:p>
          <a:p>
            <a:endParaRPr lang="en-GB" i="1" dirty="0"/>
          </a:p>
          <a:p>
            <a:r>
              <a:rPr lang="en-GB" i="1" dirty="0"/>
              <a:t>Why this matters:</a:t>
            </a:r>
            <a:r>
              <a:rPr lang="en-GB" dirty="0"/>
              <a:t> The diagram makes the bottleneck tangible in a way that prose doesn't. Participants often find that this simple image is what they remember from the session — which is itself evidence of dual coding working, a point worth making in the debrief if it comes up.</a:t>
            </a:r>
          </a:p>
          <a:p>
            <a:endParaRPr lang="en-GB" i="1" dirty="0"/>
          </a:p>
          <a:p>
            <a:r>
              <a:rPr lang="en-GB" i="1" dirty="0"/>
              <a:t>Cross-reference:</a:t>
            </a:r>
            <a:r>
              <a:rPr lang="en-GB" dirty="0"/>
              <a:t> "Everything about how we design teaching is either helping that process or obstructing it" is a deliberate bridge to S2's active vs passive principle. Don't unpack it here. The cliffhanger at the end of the session makes the same move at a larger scale.</a:t>
            </a:r>
          </a:p>
          <a:p>
            <a:endParaRPr lang="en-GB" i="1" dirty="0"/>
          </a:p>
          <a:p>
            <a:r>
              <a:rPr lang="en-GB" i="1" dirty="0"/>
              <a:t>For less familiar facilitators:</a:t>
            </a:r>
            <a:r>
              <a:rPr lang="en-GB" dirty="0"/>
              <a:t> The retrieval arrow (long-term → working) matters more than it looks — it's the mechanism behind retrieval practice, which is S2's core content. Just draw attention to its existence here; don't explain it. The goal is to plant it.</a:t>
            </a:r>
          </a:p>
        </p:txBody>
      </p:sp>
      <p:sp>
        <p:nvSpPr>
          <p:cNvPr id="4" name="Slide Number Placeholder 3">
            <a:extLst>
              <a:ext uri="{FF2B5EF4-FFF2-40B4-BE49-F238E27FC236}">
                <a16:creationId xmlns:a16="http://schemas.microsoft.com/office/drawing/2014/main" id="{20F7A7DB-1C41-9126-BAC7-2A1C0B7058B9}"/>
              </a:ext>
            </a:extLst>
          </p:cNvPr>
          <p:cNvSpPr>
            <a:spLocks noGrp="1"/>
          </p:cNvSpPr>
          <p:nvPr>
            <p:ph type="sldNum" sz="quarter" idx="5"/>
          </p:nvPr>
        </p:nvSpPr>
        <p:spPr/>
        <p:txBody>
          <a:bodyPr/>
          <a:lstStyle/>
          <a:p>
            <a:fld id="{1A15A182-B882-8249-8DBD-31130BD49A19}" type="slidenum">
              <a:rPr lang="en-GB" smtClean="0"/>
              <a:t>3</a:t>
            </a:fld>
            <a:endParaRPr lang="en-GB"/>
          </a:p>
        </p:txBody>
      </p:sp>
    </p:spTree>
    <p:extLst>
      <p:ext uri="{BB962C8B-B14F-4D97-AF65-F5344CB8AC3E}">
        <p14:creationId xmlns:p14="http://schemas.microsoft.com/office/powerpoint/2010/main" val="3304798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21316-26EB-5103-6D5C-ED7D50B1F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54CB7-350E-886C-819F-EDBEF8837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95AE01-D168-42BD-73DC-C24E93BA39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TIMING +9 mins</a:t>
            </a:r>
          </a:p>
          <a:p>
            <a:endParaRPr lang="en-GB" b="1" dirty="0"/>
          </a:p>
          <a:p>
            <a:r>
              <a:rPr lang="en-GB" b="1" dirty="0"/>
              <a:t>SCRIPT</a:t>
            </a:r>
            <a:endParaRPr lang="en-GB" dirty="0"/>
          </a:p>
          <a:p>
            <a:endParaRPr lang="en-GB" i="1" dirty="0"/>
          </a:p>
          <a:p>
            <a:r>
              <a:rPr lang="en-GB" i="0" dirty="0"/>
              <a:t>Richard </a:t>
            </a:r>
            <a:r>
              <a:rPr lang="en-GB" b="1" i="0" dirty="0"/>
              <a:t>Mayer</a:t>
            </a:r>
            <a:r>
              <a:rPr lang="en-GB" b="0" i="0" dirty="0"/>
              <a:t> (</a:t>
            </a:r>
            <a:r>
              <a:rPr lang="en-GB" i="0" dirty="0"/>
              <a:t>building on earlier work by </a:t>
            </a:r>
            <a:r>
              <a:rPr lang="en-GB" b="1" i="0" dirty="0" err="1"/>
              <a:t>Paivio</a:t>
            </a:r>
            <a:r>
              <a:rPr lang="en-GB" b="1" i="0" dirty="0"/>
              <a:t>)</a:t>
            </a:r>
            <a:r>
              <a:rPr lang="en-GB" i="0" dirty="0"/>
              <a:t>, described something called </a:t>
            </a:r>
            <a:r>
              <a:rPr lang="en-GB" b="1" i="0" dirty="0"/>
              <a:t>dual coding theory</a:t>
            </a:r>
            <a:r>
              <a:rPr lang="en-GB" i="0" dirty="0"/>
              <a:t>.</a:t>
            </a:r>
          </a:p>
          <a:p>
            <a:r>
              <a:rPr lang="en-GB" i="0" dirty="0"/>
              <a:t>The brain has </a:t>
            </a:r>
            <a:r>
              <a:rPr lang="en-GB" b="1" i="0" dirty="0"/>
              <a:t>two separate processing channels </a:t>
            </a:r>
            <a:r>
              <a:rPr lang="en-GB" i="0" dirty="0"/>
              <a:t>— one for </a:t>
            </a:r>
            <a:r>
              <a:rPr lang="en-GB" b="1" i="0" dirty="0"/>
              <a:t>verbal/language information</a:t>
            </a:r>
            <a:r>
              <a:rPr lang="en-GB" i="0" dirty="0"/>
              <a:t>, one for </a:t>
            </a:r>
            <a:r>
              <a:rPr lang="en-GB" b="1" i="0" dirty="0"/>
              <a:t>visual/spatial information</a:t>
            </a:r>
            <a:r>
              <a:rPr lang="en-GB" i="0" dirty="0"/>
              <a:t>.</a:t>
            </a:r>
          </a:p>
          <a:p>
            <a:endParaRPr lang="en-GB" i="0" dirty="0"/>
          </a:p>
          <a:p>
            <a:r>
              <a:rPr lang="en-GB" i="0" dirty="0"/>
              <a:t>Here's the implication for slides:</a:t>
            </a:r>
          </a:p>
          <a:p>
            <a:endParaRPr lang="en-GB" i="0" dirty="0"/>
          </a:p>
          <a:p>
            <a:r>
              <a:rPr lang="en-GB" b="1" i="0" dirty="0"/>
              <a:t>Reading text</a:t>
            </a:r>
            <a:r>
              <a:rPr lang="en-GB" i="0" dirty="0"/>
              <a:t> is processed in the </a:t>
            </a:r>
            <a:r>
              <a:rPr lang="en-GB" b="1" i="0" dirty="0"/>
              <a:t>verbal channel</a:t>
            </a:r>
            <a:r>
              <a:rPr lang="en-GB" b="0" i="0" dirty="0"/>
              <a:t> (</a:t>
            </a:r>
            <a:r>
              <a:rPr lang="en-GB" i="0" dirty="0"/>
              <a:t>even if if it arrives via your eyes).</a:t>
            </a:r>
          </a:p>
          <a:p>
            <a:r>
              <a:rPr lang="en-GB" i="0" dirty="0"/>
              <a:t>Processing </a:t>
            </a:r>
            <a:r>
              <a:rPr lang="en-GB" b="1" i="0" dirty="0"/>
              <a:t>spoken words </a:t>
            </a:r>
            <a:r>
              <a:rPr lang="en-GB" i="0" dirty="0"/>
              <a:t>with reading </a:t>
            </a:r>
            <a:r>
              <a:rPr lang="en-GB" b="1" i="0" dirty="0"/>
              <a:t>COMPETES </a:t>
            </a:r>
            <a:r>
              <a:rPr lang="en-GB" i="0" dirty="0"/>
              <a:t>for the </a:t>
            </a:r>
            <a:r>
              <a:rPr lang="en-GB" b="1" i="0" dirty="0"/>
              <a:t>same processing channel </a:t>
            </a:r>
            <a:r>
              <a:rPr lang="en-GB" i="0" dirty="0"/>
              <a:t>in the brain.</a:t>
            </a:r>
          </a:p>
          <a:p>
            <a:endParaRPr lang="en-GB" i="0" dirty="0"/>
          </a:p>
          <a:p>
            <a:r>
              <a:rPr lang="en-GB" i="0" dirty="0"/>
              <a:t>Trying to read and someone is talking? Impossible to concentrate.</a:t>
            </a:r>
          </a:p>
          <a:p>
            <a:r>
              <a:rPr lang="en-GB" i="0" dirty="0"/>
              <a:t>The research is unambiguous: </a:t>
            </a:r>
            <a:r>
              <a:rPr lang="en-GB" b="1" i="0" dirty="0"/>
              <a:t>this produces less learning than the alternative</a:t>
            </a:r>
            <a:r>
              <a:rPr lang="en-GB" i="0" dirty="0"/>
              <a:t>.</a:t>
            </a:r>
          </a:p>
          <a:p>
            <a:endParaRPr lang="en-GB" i="0" dirty="0"/>
          </a:p>
          <a:p>
            <a:r>
              <a:rPr lang="en-GB" i="0" dirty="0"/>
              <a:t>What is the alternative? </a:t>
            </a:r>
            <a:r>
              <a:rPr lang="en-GB" b="1" i="0" dirty="0"/>
              <a:t>Use plain images if you want them to listen.</a:t>
            </a:r>
          </a:p>
          <a:p>
            <a:endParaRPr lang="en-GB" i="0" dirty="0"/>
          </a:p>
          <a:p>
            <a:r>
              <a:rPr lang="en-GB" i="0" dirty="0"/>
              <a:t>Images are processed in the </a:t>
            </a:r>
            <a:r>
              <a:rPr lang="en-GB" b="1" i="0" dirty="0"/>
              <a:t>visuospatial</a:t>
            </a:r>
            <a:r>
              <a:rPr lang="en-GB" i="0" dirty="0"/>
              <a:t> channel.</a:t>
            </a:r>
          </a:p>
          <a:p>
            <a:r>
              <a:rPr lang="en-GB" i="0" dirty="0"/>
              <a:t>Listening to </a:t>
            </a:r>
            <a:r>
              <a:rPr lang="en-GB" b="1" i="0" dirty="0"/>
              <a:t>words</a:t>
            </a:r>
            <a:r>
              <a:rPr lang="en-GB" i="0" dirty="0"/>
              <a:t> and looking at a </a:t>
            </a:r>
            <a:r>
              <a:rPr lang="en-GB" b="1" i="0" dirty="0"/>
              <a:t>picture or diagram</a:t>
            </a:r>
            <a:r>
              <a:rPr lang="en-GB" i="0" dirty="0"/>
              <a:t> are </a:t>
            </a:r>
            <a:r>
              <a:rPr lang="en-GB" b="1" i="0" dirty="0"/>
              <a:t>two separate channels </a:t>
            </a:r>
            <a:r>
              <a:rPr lang="en-GB" i="0" dirty="0"/>
              <a:t>in the brain.</a:t>
            </a:r>
          </a:p>
          <a:p>
            <a:r>
              <a:rPr lang="en-GB" i="0" dirty="0"/>
              <a:t>These are </a:t>
            </a:r>
            <a:r>
              <a:rPr lang="en-GB" b="1" i="0" dirty="0"/>
              <a:t>COMPLEMENTARY</a:t>
            </a:r>
            <a:r>
              <a:rPr lang="en-GB" i="0" dirty="0"/>
              <a:t>. Together they build a richer encoding than either alone.</a:t>
            </a:r>
          </a:p>
          <a:p>
            <a:endParaRPr lang="en-GB" i="0" dirty="0"/>
          </a:p>
          <a:p>
            <a:r>
              <a:rPr lang="en-GB" i="0" dirty="0"/>
              <a:t>Notice what is happening right now, there is a diagram on the screen. I am talking.</a:t>
            </a:r>
          </a:p>
          <a:p>
            <a:r>
              <a:rPr lang="en-GB" i="0" dirty="0"/>
              <a:t>The diagram is not a transcript of what I'm saying — it's a model of it. That's the principle in use.</a:t>
            </a:r>
          </a:p>
          <a:p>
            <a:endParaRPr lang="en-GB" i="0" dirty="0"/>
          </a:p>
          <a:p>
            <a:r>
              <a:rPr lang="en-GB" i="0" dirty="0"/>
              <a:t>This is also why bad slides fail and cannot be remembered…</a:t>
            </a:r>
          </a:p>
          <a:p>
            <a:endParaRPr lang="en-GB"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i="0" dirty="0"/>
              <a:t>When faced with text and your voice your students need to choose – they either </a:t>
            </a:r>
            <a:r>
              <a:rPr lang="en-GB" b="1" i="0" dirty="0"/>
              <a:t>listen or read </a:t>
            </a:r>
            <a:r>
              <a:rPr lang="en-GB" i="0" dirty="0"/>
              <a:t>BUT </a:t>
            </a:r>
            <a:r>
              <a:rPr lang="en-GB" b="1" i="0" dirty="0"/>
              <a:t>not both at the same time</a:t>
            </a:r>
            <a:r>
              <a:rPr lang="en-GB" i="0" dirty="0"/>
              <a:t>.</a:t>
            </a:r>
          </a:p>
          <a:p>
            <a:endParaRPr lang="en-GB" i="0" dirty="0"/>
          </a:p>
          <a:p>
            <a:r>
              <a:rPr lang="en-GB" i="0" dirty="0"/>
              <a:t>This means that they need to </a:t>
            </a:r>
            <a:r>
              <a:rPr lang="en-GB" b="1" i="0" dirty="0"/>
              <a:t>make choices</a:t>
            </a:r>
            <a:r>
              <a:rPr lang="en-GB" i="0" dirty="0"/>
              <a:t>, and they are not guided in what is important to notice, encode, and commit to long-term memory.</a:t>
            </a:r>
          </a:p>
          <a:p>
            <a:endParaRPr lang="en-GB" i="0" dirty="0"/>
          </a:p>
          <a:p>
            <a:r>
              <a:rPr lang="en-GB" i="0" dirty="0"/>
              <a:t>Every slide with dense text on it is a choice to teach less effectively. Structurally.</a:t>
            </a:r>
          </a:p>
          <a:p>
            <a:endParaRPr lang="en-GB" i="0" dirty="0"/>
          </a:p>
          <a:p>
            <a:endParaRPr lang="en-GB" dirty="0"/>
          </a:p>
          <a:p>
            <a:r>
              <a:rPr lang="en-GB" b="1" dirty="0"/>
              <a:t>NOTES</a:t>
            </a:r>
            <a:endParaRPr lang="en-GB" dirty="0"/>
          </a:p>
          <a:p>
            <a:endParaRPr lang="en-GB" i="1" dirty="0"/>
          </a:p>
          <a:p>
            <a:r>
              <a:rPr lang="en-GB" i="1" dirty="0"/>
              <a:t>Why this matters:</a:t>
            </a:r>
            <a:r>
              <a:rPr lang="en-GB" dirty="0"/>
              <a:t> The redundancy effect (Mayer, 2001) is one of the most robust findings in educational psychology and one of the most consistently violated in clinical teaching. The reason is usually that presenters use slides as speaker notes — a point Biggs addresses, coming up in slide 6.</a:t>
            </a:r>
          </a:p>
          <a:p>
            <a:endParaRPr lang="en-GB" i="1" dirty="0"/>
          </a:p>
          <a:p>
            <a:r>
              <a:rPr lang="en-GB" i="1" dirty="0"/>
              <a:t>The self-referential moment is important:</a:t>
            </a:r>
            <a:r>
              <a:rPr lang="en-GB" dirty="0"/>
              <a:t> Call it out explicitly. "Notice what is happening right now" is pedagogically significant — it models metacognition, connects experience to theory, and gives participants a live example they can take away. This is Kolb's cycle in a single move.</a:t>
            </a:r>
          </a:p>
          <a:p>
            <a:endParaRPr lang="en-GB" i="1" dirty="0"/>
          </a:p>
          <a:p>
            <a:r>
              <a:rPr lang="en-GB" i="1" dirty="0"/>
              <a:t>Common misconception to head off:</a:t>
            </a:r>
            <a:r>
              <a:rPr lang="en-GB" dirty="0"/>
              <a:t> Dual coding does not mean "always use images." It means verbal + visual is stronger than verbal + verbal. Simple, well-chosen images. A complex infographic is not dual coding — it's visual overload. Also note that although we ‘see’ and read words, the verbal/language processing network handles written language regardless of input modality, which is why skilled readers can't </a:t>
            </a:r>
            <a:r>
              <a:rPr lang="en-GB" i="1" dirty="0"/>
              <a:t>not</a:t>
            </a:r>
            <a:r>
              <a:rPr lang="en-GB" dirty="0"/>
              <a:t> process words they see.</a:t>
            </a:r>
          </a:p>
          <a:p>
            <a:endParaRPr lang="en-GB" i="1" dirty="0"/>
          </a:p>
          <a:p>
            <a:r>
              <a:rPr lang="en-GB" i="1" dirty="0"/>
              <a:t>For less familiar facilitators:</a:t>
            </a:r>
            <a:r>
              <a:rPr lang="en-GB" dirty="0"/>
              <a:t> Mayer's Multimedia Learning (2001) is the key text. If participants want a quick entry point, his twelve principles of multimedia learning are widely available and directly applicable to slide design.</a:t>
            </a:r>
          </a:p>
          <a:p>
            <a:endParaRPr lang="en-GB" i="1" dirty="0"/>
          </a:p>
          <a:p>
            <a:r>
              <a:rPr lang="en-GB" i="1" dirty="0"/>
              <a:t>Cross-reference:</a:t>
            </a:r>
            <a:r>
              <a:rPr lang="en-GB" dirty="0"/>
              <a:t> Not revisited in S2 or S3. The principle belongs to S1 and the slide redesign activity embeds it immediately.</a:t>
            </a:r>
          </a:p>
        </p:txBody>
      </p:sp>
      <p:sp>
        <p:nvSpPr>
          <p:cNvPr id="4" name="Slide Number Placeholder 3">
            <a:extLst>
              <a:ext uri="{FF2B5EF4-FFF2-40B4-BE49-F238E27FC236}">
                <a16:creationId xmlns:a16="http://schemas.microsoft.com/office/drawing/2014/main" id="{C6C0C272-6DEE-24E5-CFB3-2801066AFE23}"/>
              </a:ext>
            </a:extLst>
          </p:cNvPr>
          <p:cNvSpPr>
            <a:spLocks noGrp="1"/>
          </p:cNvSpPr>
          <p:nvPr>
            <p:ph type="sldNum" sz="quarter" idx="5"/>
          </p:nvPr>
        </p:nvSpPr>
        <p:spPr/>
        <p:txBody>
          <a:bodyPr/>
          <a:lstStyle/>
          <a:p>
            <a:fld id="{1A15A182-B882-8249-8DBD-31130BD49A19}" type="slidenum">
              <a:rPr lang="en-GB" smtClean="0"/>
              <a:t>4</a:t>
            </a:fld>
            <a:endParaRPr lang="en-GB"/>
          </a:p>
        </p:txBody>
      </p:sp>
    </p:spTree>
    <p:extLst>
      <p:ext uri="{BB962C8B-B14F-4D97-AF65-F5344CB8AC3E}">
        <p14:creationId xmlns:p14="http://schemas.microsoft.com/office/powerpoint/2010/main" val="1823652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TIMING +12 mins</a:t>
            </a:r>
          </a:p>
          <a:p>
            <a:endParaRPr lang="en-GB" b="1" dirty="0"/>
          </a:p>
          <a:p>
            <a:r>
              <a:rPr lang="en-GB" b="1" dirty="0"/>
              <a:t>SCRIPT</a:t>
            </a:r>
          </a:p>
          <a:p>
            <a:endParaRPr lang="en-GB" dirty="0"/>
          </a:p>
          <a:p>
            <a:r>
              <a:rPr lang="en-GB" dirty="0"/>
              <a:t>Let’s talk about </a:t>
            </a:r>
            <a:r>
              <a:rPr lang="en-GB" b="1" dirty="0"/>
              <a:t>accessibility</a:t>
            </a:r>
            <a:r>
              <a:rPr lang="en-GB" dirty="0"/>
              <a:t>. This is not a tick box exercise, it matters for </a:t>
            </a:r>
            <a:r>
              <a:rPr lang="en-GB" b="1" dirty="0"/>
              <a:t>equality</a:t>
            </a:r>
            <a:r>
              <a:rPr lang="en-GB" dirty="0"/>
              <a:t> more than you probably think.</a:t>
            </a:r>
          </a:p>
          <a:p>
            <a:endParaRPr lang="en-GB" dirty="0"/>
          </a:p>
          <a:p>
            <a:r>
              <a:rPr lang="en-GB" dirty="0"/>
              <a:t>Slides are mostly for conveying visual information, and that information needs to reach </a:t>
            </a:r>
            <a:r>
              <a:rPr lang="en-GB" b="1" dirty="0"/>
              <a:t>everyone</a:t>
            </a:r>
            <a:r>
              <a:rPr lang="en-GB" dirty="0"/>
              <a:t>:</a:t>
            </a:r>
          </a:p>
          <a:p>
            <a:endParaRPr lang="en-GB" dirty="0"/>
          </a:p>
          <a:p>
            <a:pPr marL="228600" indent="-228600">
              <a:buAutoNum type="arabicPeriod"/>
            </a:pPr>
            <a:r>
              <a:rPr lang="en-GB" dirty="0"/>
              <a:t>Can the person at the back see the content? </a:t>
            </a:r>
            <a:r>
              <a:rPr lang="en-GB" b="1" dirty="0"/>
              <a:t>Make the text large – at least 24pt</a:t>
            </a:r>
            <a:r>
              <a:rPr lang="en-GB" dirty="0"/>
              <a:t>.</a:t>
            </a:r>
          </a:p>
          <a:p>
            <a:pPr marL="228600" indent="-228600">
              <a:buAutoNum type="arabicPeriod"/>
            </a:pPr>
            <a:r>
              <a:rPr lang="en-GB" dirty="0"/>
              <a:t>Don’t rely on colour to convey information: </a:t>
            </a:r>
            <a:r>
              <a:rPr lang="en-GB" b="1" dirty="0"/>
              <a:t>8% of men are colourblind </a:t>
            </a:r>
            <a:r>
              <a:rPr lang="en-GB" dirty="0"/>
              <a:t>to different degrees. Use labels.</a:t>
            </a:r>
          </a:p>
          <a:p>
            <a:pPr marL="228600" indent="-228600">
              <a:buAutoNum type="arabicPeriod"/>
            </a:pPr>
            <a:r>
              <a:rPr lang="en-GB" dirty="0"/>
              <a:t>Without being colourblind, some colours are easier to see – </a:t>
            </a:r>
            <a:r>
              <a:rPr lang="en-GB" b="1" dirty="0"/>
              <a:t>we have 3 cones in our eyes to see colour – don’t make them work hard!</a:t>
            </a:r>
          </a:p>
          <a:p>
            <a:pPr marL="228600" indent="-228600">
              <a:buAutoNum type="arabicPeriod"/>
            </a:pPr>
            <a:r>
              <a:rPr lang="en-GB" dirty="0"/>
              <a:t>Contrast ratios should make the content pop – </a:t>
            </a:r>
            <a:r>
              <a:rPr lang="en-GB" b="1" dirty="0"/>
              <a:t>where on the 0-9 scale do you see text clearly?</a:t>
            </a:r>
          </a:p>
          <a:p>
            <a:pPr marL="228600" indent="-228600">
              <a:buAutoNum type="arabicPeriod"/>
            </a:pPr>
            <a:r>
              <a:rPr lang="en-GB" b="1" dirty="0"/>
              <a:t>Don’t place important stuff at the bottom </a:t>
            </a:r>
            <a:r>
              <a:rPr lang="en-GB" dirty="0"/>
              <a:t>where it’s obscured by people’s bodies.</a:t>
            </a:r>
          </a:p>
          <a:p>
            <a:pPr marL="0" indent="0">
              <a:buNone/>
            </a:pPr>
            <a:endParaRPr lang="en-GB" dirty="0"/>
          </a:p>
          <a:p>
            <a:pPr marL="0" indent="0">
              <a:buNone/>
            </a:pPr>
            <a:r>
              <a:rPr lang="en-GB" dirty="0"/>
              <a:t>Web Content Accessibility Guidelines (WCAG) have an international standard.</a:t>
            </a:r>
          </a:p>
          <a:p>
            <a:pPr marL="0" indent="0">
              <a:buNone/>
            </a:pPr>
            <a:r>
              <a:rPr lang="en-GB" dirty="0"/>
              <a:t>PowerPoint has an accessibility checker.</a:t>
            </a:r>
          </a:p>
          <a:p>
            <a:pPr marL="0" indent="0">
              <a:buNone/>
            </a:pPr>
            <a:r>
              <a:rPr lang="en-GB" dirty="0"/>
              <a:t>Add “Alt Text” for screen readers.</a:t>
            </a:r>
          </a:p>
          <a:p>
            <a:pPr marL="0" indent="0">
              <a:buNone/>
            </a:pPr>
            <a:endParaRPr lang="en-GB" dirty="0"/>
          </a:p>
          <a:p>
            <a:pPr marL="0" indent="0">
              <a:buNone/>
            </a:pPr>
            <a:r>
              <a:rPr lang="en-GB" dirty="0"/>
              <a:t>Use a clear </a:t>
            </a:r>
            <a:r>
              <a:rPr lang="en-GB" b="1" dirty="0"/>
              <a:t>visual hierarchy </a:t>
            </a:r>
            <a:r>
              <a:rPr lang="en-GB" dirty="0"/>
              <a:t>to convey meaning. </a:t>
            </a:r>
          </a:p>
          <a:p>
            <a:pPr marL="0" indent="0">
              <a:buNone/>
            </a:pPr>
            <a:r>
              <a:rPr lang="en-GB" b="1" dirty="0"/>
              <a:t>Think back to the Apple advert – what can you remember?</a:t>
            </a:r>
            <a:r>
              <a:rPr lang="en-GB" dirty="0"/>
              <a:t> What were the key points from that? (“</a:t>
            </a:r>
            <a:r>
              <a:rPr lang="en-GB" dirty="0" err="1"/>
              <a:t>Macbook</a:t>
            </a:r>
            <a:r>
              <a:rPr lang="en-GB" dirty="0"/>
              <a:t>” and price)</a:t>
            </a:r>
          </a:p>
          <a:p>
            <a:pPr marL="0" indent="0">
              <a:buNone/>
            </a:pPr>
            <a:endParaRPr lang="en-GB" dirty="0"/>
          </a:p>
          <a:p>
            <a:pPr marL="0" indent="0">
              <a:buNone/>
            </a:pPr>
            <a:r>
              <a:rPr lang="en-GB" dirty="0"/>
              <a:t>Use animations to guide the audience through the content – this is </a:t>
            </a:r>
            <a:r>
              <a:rPr lang="en-GB" b="1" dirty="0"/>
              <a:t>what I’m doing now</a:t>
            </a:r>
            <a:r>
              <a:rPr lang="en-GB" dirty="0"/>
              <a:t> with the bad design examples.</a:t>
            </a:r>
          </a:p>
          <a:p>
            <a:pPr marL="0" indent="0">
              <a:buNone/>
            </a:pPr>
            <a:endParaRPr lang="en-GB" dirty="0"/>
          </a:p>
          <a:p>
            <a:pPr marL="0" indent="0">
              <a:buNone/>
            </a:pPr>
            <a:r>
              <a:rPr lang="en-GB" dirty="0"/>
              <a:t>This is not just for equality, it </a:t>
            </a:r>
            <a:r>
              <a:rPr lang="en-GB" b="1" dirty="0"/>
              <a:t>reduces cognitive load</a:t>
            </a:r>
            <a:r>
              <a:rPr lang="en-GB" dirty="0"/>
              <a:t>, helps the receiver </a:t>
            </a:r>
            <a:r>
              <a:rPr lang="en-GB" b="1" dirty="0"/>
              <a:t>encode</a:t>
            </a:r>
            <a:r>
              <a:rPr lang="en-GB" dirty="0"/>
              <a:t> this into long-term memory, and is much </a:t>
            </a:r>
            <a:r>
              <a:rPr lang="en-GB" b="1" dirty="0"/>
              <a:t>more effective</a:t>
            </a:r>
            <a:r>
              <a:rPr lang="en-GB" dirty="0"/>
              <a:t>.</a:t>
            </a:r>
          </a:p>
          <a:p>
            <a:pPr marL="0" indent="0">
              <a:buNone/>
            </a:pPr>
            <a:endParaRPr lang="en-GB" dirty="0"/>
          </a:p>
          <a:p>
            <a:endParaRPr lang="en-GB" dirty="0"/>
          </a:p>
          <a:p>
            <a:r>
              <a:rPr lang="en-GB" b="1" dirty="0"/>
              <a:t>NOTES</a:t>
            </a:r>
          </a:p>
          <a:p>
            <a:endParaRPr lang="en-GB" dirty="0"/>
          </a:p>
          <a:p>
            <a:r>
              <a:rPr lang="en-GB" i="1" dirty="0"/>
              <a:t>Why this matters:</a:t>
            </a:r>
            <a:r>
              <a:rPr lang="en-GB" dirty="0"/>
              <a:t> Accessibility is almost never taught in clinical educator development, despite the fact that a significant proportion of learners in any group will have some form of visual, cognitive, or processing difference that current slide design actively disadvantages.</a:t>
            </a:r>
          </a:p>
          <a:p>
            <a:endParaRPr lang="en-GB" i="1" dirty="0"/>
          </a:p>
          <a:p>
            <a:r>
              <a:rPr lang="en-GB" i="1" dirty="0"/>
              <a:t>For less familiar facilitators:</a:t>
            </a:r>
            <a:r>
              <a:rPr lang="en-GB" dirty="0"/>
              <a:t> The WCAG 2.1 quick reference is freely available at w3.org and directly linked in the references section of the blueprint. Colour contrast checkers (e.g. </a:t>
            </a:r>
            <a:r>
              <a:rPr lang="en-GB" dirty="0" err="1"/>
              <a:t>WebAIM</a:t>
            </a:r>
            <a:r>
              <a:rPr lang="en-GB" dirty="0"/>
              <a:t> Contrast Checker) are free, web-based, and take seconds to use. Consider demonstrating this live if time allows.</a:t>
            </a:r>
          </a:p>
          <a:p>
            <a:endParaRPr lang="en-GB" i="1" dirty="0"/>
          </a:p>
          <a:p>
            <a:r>
              <a:rPr lang="en-GB" i="1" dirty="0"/>
              <a:t>Watch for:</a:t>
            </a:r>
            <a:r>
              <a:rPr lang="en-GB" dirty="0"/>
              <a:t> "Our trust/hospital/department has a mandated slide template and I can't change it." This is real. Acknowledge it in the debrief (there is a specific facilitator note about this in the blueprint at minute 57). Don't try to resolve it here — plant it.</a:t>
            </a:r>
          </a:p>
          <a:p>
            <a:endParaRPr lang="en-GB" dirty="0"/>
          </a:p>
          <a:p>
            <a:r>
              <a:rPr lang="en-GB" i="1" dirty="0"/>
              <a:t>The 8% figure:</a:t>
            </a:r>
            <a:r>
              <a:rPr lang="en-GB" dirty="0"/>
              <a:t> Approximately 8% of men and 0.5% of women have some form of colour vision deficiency. In a room of 15 people, that's statistically likely to include at least one participant. Using "people in this room" rather than abstract statistics makes this concrete.</a:t>
            </a:r>
          </a:p>
          <a:p>
            <a:endParaRPr lang="en-GB" dirty="0"/>
          </a:p>
          <a:p>
            <a:r>
              <a:rPr lang="en-GB" i="1" dirty="0"/>
              <a:t>Cross-reference:</a:t>
            </a:r>
            <a:r>
              <a:rPr lang="en-GB" dirty="0"/>
              <a:t> Accessibility is not revisited as a standalone topic in S2 or S3, but the principle of designing for all learners recurs throughout. The psychological safety content in S2 shares the same underlying value.</a:t>
            </a:r>
          </a:p>
          <a:p>
            <a:endParaRPr lang="en-GB" dirty="0"/>
          </a:p>
          <a:p>
            <a:r>
              <a:rPr lang="en-GB" b="1" dirty="0"/>
              <a:t>IMAGE  CREDITS</a:t>
            </a:r>
          </a:p>
          <a:p>
            <a:endParaRPr lang="en-GB" dirty="0"/>
          </a:p>
          <a:p>
            <a:r>
              <a:rPr lang="en-GB" dirty="0" err="1"/>
              <a:t>Ishahara</a:t>
            </a:r>
            <a:r>
              <a:rPr lang="en-GB" dirty="0"/>
              <a:t> Plates: “</a:t>
            </a:r>
            <a:r>
              <a:rPr lang="en-GB" sz="1200" b="0" i="0" kern="1200" dirty="0">
                <a:solidFill>
                  <a:schemeClr val="tx1"/>
                </a:solidFill>
                <a:effectLst/>
                <a:latin typeface="+mn-lt"/>
                <a:ea typeface="+mn-ea"/>
                <a:cs typeface="+mn-cs"/>
              </a:rPr>
              <a:t>Eight Ishihara charts for testing colour blindness, Europe”, </a:t>
            </a:r>
            <a:r>
              <a:rPr lang="en-GB" sz="1200" b="0" i="0" kern="1200" dirty="0" err="1">
                <a:solidFill>
                  <a:schemeClr val="tx1"/>
                </a:solidFill>
                <a:effectLst/>
                <a:latin typeface="+mn-lt"/>
                <a:ea typeface="+mn-ea"/>
                <a:cs typeface="+mn-cs"/>
              </a:rPr>
              <a:t>Wellcome</a:t>
            </a:r>
            <a:r>
              <a:rPr lang="en-GB" sz="1200" b="0" i="0" kern="1200" dirty="0">
                <a:solidFill>
                  <a:schemeClr val="tx1"/>
                </a:solidFill>
                <a:effectLst/>
                <a:latin typeface="+mn-lt"/>
                <a:ea typeface="+mn-ea"/>
                <a:cs typeface="+mn-cs"/>
              </a:rPr>
              <a:t> Collection, licensed under CC BY 4.0.</a:t>
            </a:r>
          </a:p>
          <a:p>
            <a:r>
              <a:rPr lang="en-GB" dirty="0"/>
              <a:t>https://</a:t>
            </a:r>
            <a:r>
              <a:rPr lang="en-GB" dirty="0" err="1"/>
              <a:t>commons.wikimedia.org</a:t>
            </a:r>
            <a:r>
              <a:rPr lang="en-GB" dirty="0"/>
              <a:t>/wiki/File:Eight_Ishihara_charts_for_testing_colour_blindness,_Europe_Wellcome_L0059162.jpg</a:t>
            </a:r>
          </a:p>
          <a:p>
            <a:endParaRPr lang="en-GB" dirty="0"/>
          </a:p>
          <a:p>
            <a:r>
              <a:rPr lang="en-GB" dirty="0" err="1"/>
              <a:t>Sillhouette</a:t>
            </a:r>
            <a:r>
              <a:rPr lang="en-GB" dirty="0"/>
              <a:t>: “Profile Photo Placeholder – smooth edges” by </a:t>
            </a:r>
            <a:r>
              <a:rPr lang="en-GB" dirty="0" err="1"/>
              <a:t>domdomegg</a:t>
            </a:r>
            <a:r>
              <a:rPr lang="en-GB" dirty="0"/>
              <a:t>, CC0 1.0 Universal Public Domain Dedication.</a:t>
            </a:r>
          </a:p>
          <a:p>
            <a:r>
              <a:rPr lang="en-GB" dirty="0"/>
              <a:t>https://</a:t>
            </a:r>
            <a:r>
              <a:rPr lang="en-GB" dirty="0" err="1"/>
              <a:t>commons.wikimedia.org</a:t>
            </a:r>
            <a:r>
              <a:rPr lang="en-GB" dirty="0"/>
              <a:t>/wiki/File:Profile_photo_placeholder_-_</a:t>
            </a:r>
            <a:r>
              <a:rPr lang="en-GB" dirty="0" err="1"/>
              <a:t>smooth_edges.svg</a:t>
            </a:r>
            <a:endParaRPr lang="en-GB" dirty="0"/>
          </a:p>
        </p:txBody>
      </p:sp>
      <p:sp>
        <p:nvSpPr>
          <p:cNvPr id="4" name="Slide Number Placeholder 3"/>
          <p:cNvSpPr>
            <a:spLocks noGrp="1"/>
          </p:cNvSpPr>
          <p:nvPr>
            <p:ph type="sldNum" sz="quarter" idx="5"/>
          </p:nvPr>
        </p:nvSpPr>
        <p:spPr/>
        <p:txBody>
          <a:bodyPr/>
          <a:lstStyle/>
          <a:p>
            <a:fld id="{1A15A182-B882-8249-8DBD-31130BD49A19}" type="slidenum">
              <a:rPr lang="en-GB" smtClean="0"/>
              <a:t>5</a:t>
            </a:fld>
            <a:endParaRPr lang="en-GB"/>
          </a:p>
        </p:txBody>
      </p:sp>
    </p:spTree>
    <p:extLst>
      <p:ext uri="{BB962C8B-B14F-4D97-AF65-F5344CB8AC3E}">
        <p14:creationId xmlns:p14="http://schemas.microsoft.com/office/powerpoint/2010/main" val="203827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TIMING +15 mins</a:t>
            </a:r>
          </a:p>
          <a:p>
            <a:endParaRPr lang="en-GB" b="1" dirty="0"/>
          </a:p>
          <a:p>
            <a:r>
              <a:rPr lang="en-GB" b="1" dirty="0"/>
              <a:t>SCRIPT</a:t>
            </a:r>
          </a:p>
          <a:p>
            <a:endParaRPr lang="en-GB" b="1" dirty="0"/>
          </a:p>
          <a:p>
            <a:r>
              <a:rPr lang="en-GB" i="0" dirty="0"/>
              <a:t>John Biggs, in 1996, described something called constructive alignment.</a:t>
            </a:r>
          </a:p>
          <a:p>
            <a:endParaRPr lang="en-GB" i="0" dirty="0"/>
          </a:p>
          <a:p>
            <a:r>
              <a:rPr lang="en-GB" i="0" dirty="0"/>
              <a:t>The core idea is this: </a:t>
            </a:r>
            <a:r>
              <a:rPr lang="en-GB" b="1" i="0" dirty="0"/>
              <a:t>every element of a teaching design</a:t>
            </a:r>
            <a:r>
              <a:rPr lang="en-GB" i="0" dirty="0"/>
              <a:t> — what you teach, how you teach it, how you assess it — should </a:t>
            </a:r>
            <a:r>
              <a:rPr lang="en-GB" b="1" i="0" dirty="0"/>
              <a:t>exist to serve a learning outcome</a:t>
            </a:r>
            <a:r>
              <a:rPr lang="en-GB" i="0" dirty="0"/>
              <a:t>.</a:t>
            </a:r>
          </a:p>
          <a:p>
            <a:r>
              <a:rPr lang="en-GB" i="0" dirty="0"/>
              <a:t>If you can't explain </a:t>
            </a:r>
            <a:r>
              <a:rPr lang="en-GB" b="1" i="0" dirty="0"/>
              <a:t>why an element is there </a:t>
            </a:r>
            <a:r>
              <a:rPr lang="en-GB" i="0" dirty="0"/>
              <a:t>in terms of what the learner gets from it, </a:t>
            </a:r>
            <a:r>
              <a:rPr lang="en-GB" b="1" i="0" dirty="0"/>
              <a:t>it probably shouldn't be there</a:t>
            </a:r>
            <a:r>
              <a:rPr lang="en-GB" i="0" dirty="0"/>
              <a:t>.</a:t>
            </a:r>
          </a:p>
          <a:p>
            <a:endParaRPr lang="en-GB" i="0" dirty="0"/>
          </a:p>
          <a:p>
            <a:r>
              <a:rPr lang="en-GB" i="0" dirty="0"/>
              <a:t>Now I want to ask you an honest question, and I want you to </a:t>
            </a:r>
            <a:r>
              <a:rPr lang="en-GB" b="1" i="0" dirty="0"/>
              <a:t>think</a:t>
            </a:r>
            <a:r>
              <a:rPr lang="en-GB" i="0" dirty="0"/>
              <a:t> about it </a:t>
            </a:r>
            <a:r>
              <a:rPr lang="en-GB" b="1" i="0" dirty="0"/>
              <a:t>rather</a:t>
            </a:r>
            <a:r>
              <a:rPr lang="en-GB" i="0" dirty="0"/>
              <a:t> than answer it </a:t>
            </a:r>
            <a:r>
              <a:rPr lang="en-GB" b="1" i="0" dirty="0"/>
              <a:t>out loud</a:t>
            </a:r>
            <a:r>
              <a:rPr lang="en-GB" i="0" dirty="0"/>
              <a:t>.</a:t>
            </a:r>
          </a:p>
          <a:p>
            <a:r>
              <a:rPr lang="en-GB" b="1" i="0" dirty="0"/>
              <a:t>Has anyone here ever put everything they needed to say on a slide... so they wouldn't forget it?</a:t>
            </a:r>
          </a:p>
          <a:p>
            <a:r>
              <a:rPr lang="en-GB" i="0" dirty="0"/>
              <a:t>(Pause.)</a:t>
            </a:r>
          </a:p>
          <a:p>
            <a:endParaRPr lang="en-GB" i="0" dirty="0"/>
          </a:p>
          <a:p>
            <a:r>
              <a:rPr lang="en-GB" i="0" dirty="0"/>
              <a:t>That is not a slide designed for your learner. That is a </a:t>
            </a:r>
            <a:r>
              <a:rPr lang="en-GB" b="1" i="0" dirty="0"/>
              <a:t>security blanket</a:t>
            </a:r>
            <a:r>
              <a:rPr lang="en-GB" i="0" dirty="0"/>
              <a:t>.</a:t>
            </a:r>
          </a:p>
          <a:p>
            <a:endParaRPr lang="en-GB" i="0" dirty="0"/>
          </a:p>
          <a:p>
            <a:r>
              <a:rPr lang="en-GB" i="0" dirty="0"/>
              <a:t>It is </a:t>
            </a:r>
            <a:r>
              <a:rPr lang="en-GB" b="1" i="0" dirty="0"/>
              <a:t>designed for you</a:t>
            </a:r>
            <a:r>
              <a:rPr lang="en-GB" i="0" dirty="0"/>
              <a:t> — for your anxiety about forgetting, about silence, about the moment a question comes that you're not sure how to answer.</a:t>
            </a:r>
          </a:p>
          <a:p>
            <a:r>
              <a:rPr lang="en-GB" i="0" dirty="0"/>
              <a:t>And I say that with complete recognition, because </a:t>
            </a:r>
            <a:r>
              <a:rPr lang="en-GB" b="1" i="0" dirty="0"/>
              <a:t>almost every slide deck in clinical education contains at least one </a:t>
            </a:r>
            <a:r>
              <a:rPr lang="en-GB" i="0" dirty="0"/>
              <a:t>of these.</a:t>
            </a:r>
          </a:p>
          <a:p>
            <a:endParaRPr lang="en-GB" i="0" dirty="0"/>
          </a:p>
          <a:p>
            <a:r>
              <a:rPr lang="en-GB" i="0" dirty="0"/>
              <a:t>Biggs' question is brutal in its simplicity: who is this slide for?</a:t>
            </a:r>
          </a:p>
          <a:p>
            <a:r>
              <a:rPr lang="en-GB" i="0" dirty="0"/>
              <a:t>If the honest answer is 'me’ (or my colleagues) — it needs redesigning.</a:t>
            </a:r>
          </a:p>
          <a:p>
            <a:endParaRPr lang="en-GB" i="0" dirty="0"/>
          </a:p>
          <a:p>
            <a:r>
              <a:rPr lang="en-GB" i="0" dirty="0"/>
              <a:t>That's what you're going to do in the next twenty minutes.</a:t>
            </a:r>
          </a:p>
          <a:p>
            <a:endParaRPr lang="en-GB" i="0" dirty="0"/>
          </a:p>
          <a:p>
            <a:r>
              <a:rPr lang="en-GB" i="0" dirty="0"/>
              <a:t>(Timer goes off or you check it.)</a:t>
            </a:r>
          </a:p>
          <a:p>
            <a:r>
              <a:rPr lang="en-GB" i="0" dirty="0"/>
              <a:t>And </a:t>
            </a:r>
            <a:r>
              <a:rPr lang="en-GB" b="1" i="0" dirty="0"/>
              <a:t>that is fifteen minutes</a:t>
            </a:r>
            <a:r>
              <a:rPr lang="en-GB" i="0" dirty="0"/>
              <a:t>.</a:t>
            </a:r>
          </a:p>
          <a:p>
            <a:r>
              <a:rPr lang="en-GB" b="1" i="0" dirty="0"/>
              <a:t>Notice how that felt.</a:t>
            </a:r>
          </a:p>
          <a:p>
            <a:endParaRPr lang="en-GB" dirty="0"/>
          </a:p>
          <a:p>
            <a:r>
              <a:rPr lang="en-GB" b="1" dirty="0"/>
              <a:t>NOTES</a:t>
            </a:r>
          </a:p>
          <a:p>
            <a:endParaRPr lang="en-GB" dirty="0"/>
          </a:p>
          <a:p>
            <a:r>
              <a:rPr lang="en-GB" i="1" dirty="0"/>
              <a:t>Why this matters:</a:t>
            </a:r>
            <a:r>
              <a:rPr lang="en-GB" dirty="0"/>
              <a:t> The security blanket reframe is often the most memorable moment of this section for participants because it is affectively accurate — most clinical educators recognise the anxiety it names. Moving from self-criticism ("I've been doing it wrong") to structural understanding ("this is what that behaviour was doing") is more likely to produce change than guilt.</a:t>
            </a:r>
          </a:p>
          <a:p>
            <a:endParaRPr lang="en-GB" dirty="0"/>
          </a:p>
          <a:p>
            <a:r>
              <a:rPr lang="en-GB" i="1" dirty="0"/>
              <a:t>The timing callout is mandatory:</a:t>
            </a:r>
            <a:r>
              <a:rPr lang="en-GB" dirty="0"/>
              <a:t> When the timer goes off, stop. Even mid-sentence if you haven't quite finished. The point is explicit: you have just modelled a time-bounded didactic, and calling attention to it makes the hidden curriculum visible. If you overrun, you have undermined the lesson in real time.</a:t>
            </a:r>
          </a:p>
          <a:p>
            <a:endParaRPr lang="en-GB" dirty="0"/>
          </a:p>
          <a:p>
            <a:r>
              <a:rPr lang="en-GB" i="1" dirty="0"/>
              <a:t>"Notice how that felt":</a:t>
            </a:r>
            <a:r>
              <a:rPr lang="en-GB" dirty="0"/>
              <a:t> This is an invitation to metacognition, not a rhetorical flourish. In the debrief, some participants will say it felt rushed. Others will say it felt about right. Both responses are useful data for the conversation about pacing and learner experience.</a:t>
            </a:r>
          </a:p>
          <a:p>
            <a:endParaRPr lang="en-GB" dirty="0"/>
          </a:p>
          <a:p>
            <a:r>
              <a:rPr lang="en-GB" i="1" dirty="0"/>
              <a:t>For less familiar facilitators:</a:t>
            </a:r>
            <a:r>
              <a:rPr lang="en-GB" dirty="0"/>
              <a:t> Constructive alignment is one of the most widely applied concepts in higher education design. Biggs' full model includes three elements — learning outcomes, teaching and learning activities, and assessment tasks — all pointed at the same target. In this session, you're using only the "does every element serve the outcome?" version, which is sufficient. The fuller model is in the Theory Library.</a:t>
            </a:r>
          </a:p>
          <a:p>
            <a:endParaRPr lang="en-GB" dirty="0"/>
          </a:p>
          <a:p>
            <a:r>
              <a:rPr lang="en-GB" i="1" dirty="0"/>
              <a:t>Cross-reference:</a:t>
            </a:r>
            <a:r>
              <a:rPr lang="en-GB" dirty="0"/>
              <a:t> Constructive alignment recurs in S3 (Kirkpatrick — does your teaching produce behaviour change?) at a programme level rather than a slide level. You can briefly plant this: "We'll come back to Biggs in Session 3 — not at the level of a single slide, but at the level of an entire programme." Then move on.</a:t>
            </a:r>
          </a:p>
          <a:p>
            <a:endParaRPr lang="en-GB" dirty="0"/>
          </a:p>
          <a:p>
            <a:r>
              <a:rPr lang="en-GB" b="1" dirty="0"/>
              <a:t>IMAGE CREDITS</a:t>
            </a:r>
          </a:p>
          <a:p>
            <a:endParaRPr lang="en-GB" dirty="0"/>
          </a:p>
          <a:p>
            <a:r>
              <a:rPr lang="en-GB" dirty="0"/>
              <a:t>Cat:</a:t>
            </a:r>
          </a:p>
          <a:p>
            <a:r>
              <a:rPr lang="en-GB" dirty="0"/>
              <a:t>“It's my blanket!” by </a:t>
            </a:r>
            <a:r>
              <a:rPr lang="en-GB" dirty="0" err="1"/>
              <a:t>Elecé</a:t>
            </a:r>
            <a:r>
              <a:rPr lang="en-GB" dirty="0"/>
              <a:t>, licensed </a:t>
            </a:r>
            <a:r>
              <a:rPr lang="en-GB" sz="1200" b="0" i="0" kern="1200" dirty="0">
                <a:solidFill>
                  <a:schemeClr val="tx1"/>
                </a:solidFill>
                <a:effectLst/>
                <a:latin typeface="+mn-lt"/>
                <a:ea typeface="+mn-ea"/>
                <a:cs typeface="+mn-cs"/>
              </a:rPr>
              <a:t>under CC BY 2.0</a:t>
            </a:r>
          </a:p>
          <a:p>
            <a:r>
              <a:rPr lang="en-GB" dirty="0"/>
              <a:t>https://</a:t>
            </a:r>
            <a:r>
              <a:rPr lang="en-GB" dirty="0" err="1"/>
              <a:t>www.flickr.com</a:t>
            </a:r>
            <a:r>
              <a:rPr lang="en-GB" dirty="0"/>
              <a:t>/photos/11498085@N00/5648654531</a:t>
            </a:r>
          </a:p>
          <a:p>
            <a:endParaRPr lang="en-GB" dirty="0"/>
          </a:p>
        </p:txBody>
      </p:sp>
      <p:sp>
        <p:nvSpPr>
          <p:cNvPr id="4" name="Slide Number Placeholder 3"/>
          <p:cNvSpPr>
            <a:spLocks noGrp="1"/>
          </p:cNvSpPr>
          <p:nvPr>
            <p:ph type="sldNum" sz="quarter" idx="5"/>
          </p:nvPr>
        </p:nvSpPr>
        <p:spPr/>
        <p:txBody>
          <a:bodyPr/>
          <a:lstStyle/>
          <a:p>
            <a:fld id="{1A15A182-B882-8249-8DBD-31130BD49A19}" type="slidenum">
              <a:rPr lang="en-GB" smtClean="0"/>
              <a:t>6</a:t>
            </a:fld>
            <a:endParaRPr lang="en-GB"/>
          </a:p>
        </p:txBody>
      </p:sp>
    </p:spTree>
    <p:extLst>
      <p:ext uri="{BB962C8B-B14F-4D97-AF65-F5344CB8AC3E}">
        <p14:creationId xmlns:p14="http://schemas.microsoft.com/office/powerpoint/2010/main" val="2506628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55A86-593D-A1E0-930B-54CDB99575DE}"/>
              </a:ext>
            </a:extLst>
          </p:cNvPr>
          <p:cNvSpPr>
            <a:spLocks noGrp="1"/>
          </p:cNvSpPr>
          <p:nvPr>
            <p:ph type="ctrTitle"/>
          </p:nvPr>
        </p:nvSpPr>
        <p:spPr>
          <a:xfrm>
            <a:off x="1524000" y="1122363"/>
            <a:ext cx="9144000" cy="2387600"/>
          </a:xfrm>
        </p:spPr>
        <p:txBody>
          <a:bodyPr anchor="b"/>
          <a:lstStyle>
            <a:lvl1pPr algn="ctr">
              <a:defRPr sz="4400"/>
            </a:lvl1pPr>
          </a:lstStyle>
          <a:p>
            <a:r>
              <a:rPr lang="en-GB" dirty="0"/>
              <a:t>Click to edit Master title style</a:t>
            </a:r>
          </a:p>
        </p:txBody>
      </p:sp>
      <p:sp>
        <p:nvSpPr>
          <p:cNvPr id="3" name="Subtitle 2">
            <a:extLst>
              <a:ext uri="{FF2B5EF4-FFF2-40B4-BE49-F238E27FC236}">
                <a16:creationId xmlns:a16="http://schemas.microsoft.com/office/drawing/2014/main" id="{BF9CB382-1EAA-E5DD-0DC6-DAC89C73A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p>
        </p:txBody>
      </p:sp>
    </p:spTree>
    <p:extLst>
      <p:ext uri="{BB962C8B-B14F-4D97-AF65-F5344CB8AC3E}">
        <p14:creationId xmlns:p14="http://schemas.microsoft.com/office/powerpoint/2010/main" val="4182415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83B9D-3A87-DC6C-4A31-1335B53490D1}"/>
              </a:ext>
            </a:extLst>
          </p:cNvPr>
          <p:cNvSpPr>
            <a:spLocks noGrp="1"/>
          </p:cNvSpPr>
          <p:nvPr>
            <p:ph type="title"/>
          </p:nvPr>
        </p:nvSpPr>
        <p:spPr/>
        <p:txBody>
          <a:bodyPr/>
          <a:lstStyle/>
          <a:p>
            <a:r>
              <a:rPr lang="en-GB" dirty="0"/>
              <a:t>Click to edit Master title style</a:t>
            </a:r>
          </a:p>
        </p:txBody>
      </p:sp>
      <p:sp>
        <p:nvSpPr>
          <p:cNvPr id="3" name="Content Placeholder 2">
            <a:extLst>
              <a:ext uri="{FF2B5EF4-FFF2-40B4-BE49-F238E27FC236}">
                <a16:creationId xmlns:a16="http://schemas.microsoft.com/office/drawing/2014/main" id="{7A9D6793-056B-F991-B743-9510096E68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252566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6B5F6-95D7-52C5-1FD0-E9FBF42D54E0}"/>
              </a:ext>
            </a:extLst>
          </p:cNvPr>
          <p:cNvSpPr>
            <a:spLocks noGrp="1"/>
          </p:cNvSpPr>
          <p:nvPr>
            <p:ph type="title"/>
          </p:nvPr>
        </p:nvSpPr>
        <p:spPr/>
        <p:txBody>
          <a:bodyPr/>
          <a:lstStyle/>
          <a:p>
            <a:r>
              <a:rPr lang="en-GB" dirty="0"/>
              <a:t>Click to edit Master title style</a:t>
            </a:r>
          </a:p>
        </p:txBody>
      </p:sp>
    </p:spTree>
    <p:extLst>
      <p:ext uri="{BB962C8B-B14F-4D97-AF65-F5344CB8AC3E}">
        <p14:creationId xmlns:p14="http://schemas.microsoft.com/office/powerpoint/2010/main" val="2685889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30373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hyperlink" Target="https://creativecommons.org/licenses/by/4.0/legalcode"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FA1E89-F1CB-0380-15A2-5507DC58E7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F097B546-1AFC-A0DB-D169-7804B05B40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7" name="Picture 6">
            <a:extLst>
              <a:ext uri="{FF2B5EF4-FFF2-40B4-BE49-F238E27FC236}">
                <a16:creationId xmlns:a16="http://schemas.microsoft.com/office/drawing/2014/main" id="{17B49EC0-1136-5CA9-3451-A05CEBFA5813}"/>
              </a:ext>
            </a:extLst>
          </p:cNvPr>
          <p:cNvPicPr>
            <a:picLocks noChangeAspect="1"/>
          </p:cNvPicPr>
          <p:nvPr userDrawn="1"/>
        </p:nvPicPr>
        <p:blipFill>
          <a:blip r:embed="rId6"/>
          <a:stretch>
            <a:fillRect/>
          </a:stretch>
        </p:blipFill>
        <p:spPr>
          <a:xfrm>
            <a:off x="127611" y="6411803"/>
            <a:ext cx="649629" cy="423462"/>
          </a:xfrm>
          <a:prstGeom prst="rect">
            <a:avLst/>
          </a:prstGeom>
        </p:spPr>
      </p:pic>
      <p:sp>
        <p:nvSpPr>
          <p:cNvPr id="8" name="TextBox 7">
            <a:extLst>
              <a:ext uri="{FF2B5EF4-FFF2-40B4-BE49-F238E27FC236}">
                <a16:creationId xmlns:a16="http://schemas.microsoft.com/office/drawing/2014/main" id="{555C068F-AA94-2446-1D55-D04F0D9732E6}"/>
              </a:ext>
            </a:extLst>
          </p:cNvPr>
          <p:cNvSpPr txBox="1"/>
          <p:nvPr userDrawn="1"/>
        </p:nvSpPr>
        <p:spPr>
          <a:xfrm>
            <a:off x="9817183" y="6581001"/>
            <a:ext cx="2374817" cy="276999"/>
          </a:xfrm>
          <a:prstGeom prst="rect">
            <a:avLst/>
          </a:prstGeom>
          <a:noFill/>
        </p:spPr>
        <p:txBody>
          <a:bodyPr wrap="none" rtlCol="0">
            <a:spAutoFit/>
          </a:bodyPr>
          <a:lstStyle/>
          <a:p>
            <a:r>
              <a:rPr lang="en-GB" sz="1200" u="none" dirty="0">
                <a:solidFill>
                  <a:srgbClr val="BBBDC1"/>
                </a:solidFill>
              </a:rPr>
              <a:t>© Teaching that Sticks, </a:t>
            </a:r>
            <a:r>
              <a:rPr lang="en-GB" sz="1200" u="none" dirty="0">
                <a:solidFill>
                  <a:srgbClr val="BBBDC1"/>
                </a:solidFill>
                <a:hlinkClick r:id="rId7">
                  <a:extLst>
                    <a:ext uri="{A12FA001-AC4F-418D-AE19-62706E023703}">
                      <ahyp:hlinkClr xmlns:ahyp="http://schemas.microsoft.com/office/drawing/2018/hyperlinkcolor" val="tx"/>
                    </a:ext>
                  </a:extLst>
                </a:hlinkClick>
              </a:rPr>
              <a:t>CC BY 4.0</a:t>
            </a:r>
            <a:endParaRPr lang="en-GB" sz="1200" u="none" dirty="0">
              <a:solidFill>
                <a:srgbClr val="BBBDC1"/>
              </a:solidFill>
            </a:endParaRPr>
          </a:p>
        </p:txBody>
      </p:sp>
    </p:spTree>
    <p:extLst>
      <p:ext uri="{BB962C8B-B14F-4D97-AF65-F5344CB8AC3E}">
        <p14:creationId xmlns:p14="http://schemas.microsoft.com/office/powerpoint/2010/main" val="421831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openverse.org/image/f564d68c-6499-4314-ba86-f1c4dd8fac11?q=black+friday&amp;p=97"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hyperlink" Target="https://openverse.org/image/8962af27-38b6-4533-b2a3-0d249d64d468?q=computer+advert+apple&amp;p=4" TargetMode="Externa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tiff"/></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51B72-906E-9C57-B2E6-25DF452F947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52BCC60-5183-453E-A533-0FCB0B1D5777}"/>
              </a:ext>
            </a:extLst>
          </p:cNvPr>
          <p:cNvSpPr txBox="1"/>
          <p:nvPr/>
        </p:nvSpPr>
        <p:spPr>
          <a:xfrm>
            <a:off x="2954627" y="3013501"/>
            <a:ext cx="6282746" cy="830997"/>
          </a:xfrm>
          <a:prstGeom prst="rect">
            <a:avLst/>
          </a:prstGeom>
          <a:noFill/>
        </p:spPr>
        <p:txBody>
          <a:bodyPr wrap="none" rtlCol="0">
            <a:spAutoFit/>
          </a:bodyPr>
          <a:lstStyle/>
          <a:p>
            <a:pPr algn="ctr"/>
            <a:r>
              <a:rPr lang="en-GB" sz="4800" b="1" dirty="0"/>
              <a:t>Death by PowerPoint?</a:t>
            </a:r>
          </a:p>
        </p:txBody>
      </p:sp>
    </p:spTree>
    <p:extLst>
      <p:ext uri="{BB962C8B-B14F-4D97-AF65-F5344CB8AC3E}">
        <p14:creationId xmlns:p14="http://schemas.microsoft.com/office/powerpoint/2010/main" val="169927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motional flyer featuring electronic products and video game deals available for one day only on Friday at 4 AM. Includes laptops, digital cameras, wireless routers, PC games with discounted prices highlighted in red, and key savings such as $50 off an HP notebook and $30 off selected PC games, with clear price tags, product images, and brand logos.">
            <a:hlinkClick r:id="rId3"/>
            <a:extLst>
              <a:ext uri="{FF2B5EF4-FFF2-40B4-BE49-F238E27FC236}">
                <a16:creationId xmlns:a16="http://schemas.microsoft.com/office/drawing/2014/main" id="{0F1D63FA-92E3-53B9-7A66-32C41F713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497" y="0"/>
            <a:ext cx="5704913" cy="6149009"/>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27358C6A-1EC8-BE67-B07B-76DF122751D6}"/>
              </a:ext>
            </a:extLst>
          </p:cNvPr>
          <p:cNvGrpSpPr/>
          <p:nvPr/>
        </p:nvGrpSpPr>
        <p:grpSpPr>
          <a:xfrm>
            <a:off x="6366357" y="125362"/>
            <a:ext cx="5473542" cy="5898283"/>
            <a:chOff x="6598972" y="125362"/>
            <a:chExt cx="5473542" cy="5898283"/>
          </a:xfrm>
        </p:grpSpPr>
        <p:sp>
          <p:nvSpPr>
            <p:cNvPr id="7" name="Rectangle 6">
              <a:extLst>
                <a:ext uri="{FF2B5EF4-FFF2-40B4-BE49-F238E27FC236}">
                  <a16:creationId xmlns:a16="http://schemas.microsoft.com/office/drawing/2014/main" id="{85B2E234-6F70-7349-69A3-D3A158E1E179}"/>
                </a:ext>
                <a:ext uri="{C183D7F6-B498-43B3-948B-1728B52AA6E4}">
                  <adec:decorative xmlns:adec="http://schemas.microsoft.com/office/drawing/2017/decorative" val="1"/>
                </a:ext>
              </a:extLst>
            </p:cNvPr>
            <p:cNvSpPr/>
            <p:nvPr/>
          </p:nvSpPr>
          <p:spPr>
            <a:xfrm>
              <a:off x="6598973" y="125362"/>
              <a:ext cx="5472295" cy="5898283"/>
            </a:xfrm>
            <a:prstGeom prst="rect">
              <a:avLst/>
            </a:prstGeom>
            <a:solidFill>
              <a:srgbClr val="1D1D1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8" name="Picture 4" descr="Single photograph of a white Apple MacBook laptop, set against a dark background. Accompanied by small amount of text with prominent Apple logo and “MacBook”. Underneath is uncrowded text explaining the features and a large clear price.">
              <a:hlinkClick r:id="rId5"/>
              <a:extLst>
                <a:ext uri="{FF2B5EF4-FFF2-40B4-BE49-F238E27FC236}">
                  <a16:creationId xmlns:a16="http://schemas.microsoft.com/office/drawing/2014/main" id="{D2BA02E1-DE52-18C5-D5DE-D9A15D6D114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8972" y="1137755"/>
              <a:ext cx="5473542" cy="3870000"/>
            </a:xfrm>
            <a:prstGeom prst="rect">
              <a:avLst/>
            </a:prstGeom>
            <a:solidFill>
              <a:schemeClr val="tx1"/>
            </a:solidFill>
          </p:spPr>
        </p:pic>
      </p:grpSp>
    </p:spTree>
    <p:extLst>
      <p:ext uri="{BB962C8B-B14F-4D97-AF65-F5344CB8AC3E}">
        <p14:creationId xmlns:p14="http://schemas.microsoft.com/office/powerpoint/2010/main" val="255705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BD44-92F4-1C33-77E5-D12186B3AAFE}"/>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2F766CE-EC08-D7DD-4E4C-2BC021086046}"/>
              </a:ext>
            </a:extLst>
          </p:cNvPr>
          <p:cNvGrpSpPr/>
          <p:nvPr/>
        </p:nvGrpSpPr>
        <p:grpSpPr>
          <a:xfrm>
            <a:off x="838840" y="-1813641"/>
            <a:ext cx="10514320" cy="10485281"/>
            <a:chOff x="903054" y="-1770461"/>
            <a:chExt cx="10514320" cy="10485281"/>
          </a:xfrm>
        </p:grpSpPr>
        <p:sp>
          <p:nvSpPr>
            <p:cNvPr id="10" name="TextBox 9">
              <a:extLst>
                <a:ext uri="{FF2B5EF4-FFF2-40B4-BE49-F238E27FC236}">
                  <a16:creationId xmlns:a16="http://schemas.microsoft.com/office/drawing/2014/main" id="{5238037B-8ECA-C5CD-34A3-2695F8EF11BA}"/>
                </a:ext>
              </a:extLst>
            </p:cNvPr>
            <p:cNvSpPr txBox="1"/>
            <p:nvPr/>
          </p:nvSpPr>
          <p:spPr>
            <a:xfrm>
              <a:off x="1520130" y="2613164"/>
              <a:ext cx="2615652" cy="1447512"/>
            </a:xfrm>
            <a:prstGeom prst="rect">
              <a:avLst/>
            </a:prstGeom>
            <a:noFill/>
          </p:spPr>
          <p:txBody>
            <a:bodyPr wrap="none" rtlCol="0">
              <a:spAutoFit/>
            </a:bodyPr>
            <a:lstStyle/>
            <a:p>
              <a:pPr algn="ctr">
                <a:lnSpc>
                  <a:spcPct val="80000"/>
                </a:lnSpc>
              </a:pPr>
              <a:r>
                <a:rPr lang="en-GB" sz="5400" b="1" dirty="0">
                  <a:solidFill>
                    <a:srgbClr val="453E6C"/>
                  </a:solidFill>
                  <a:latin typeface="+mj-lt"/>
                  <a:cs typeface="Arial" panose="020B0604020202020204" pitchFamily="34" charset="0"/>
                </a:rPr>
                <a:t>Working</a:t>
              </a:r>
            </a:p>
            <a:p>
              <a:pPr algn="ctr">
                <a:lnSpc>
                  <a:spcPct val="80000"/>
                </a:lnSpc>
              </a:pPr>
              <a:r>
                <a:rPr lang="en-GB" sz="5400" b="1" dirty="0">
                  <a:solidFill>
                    <a:srgbClr val="453E6C"/>
                  </a:solidFill>
                  <a:latin typeface="+mj-lt"/>
                  <a:cs typeface="Arial" panose="020B0604020202020204" pitchFamily="34" charset="0"/>
                </a:rPr>
                <a:t>Memory</a:t>
              </a:r>
            </a:p>
          </p:txBody>
        </p:sp>
        <p:sp>
          <p:nvSpPr>
            <p:cNvPr id="12" name="TextBox 11">
              <a:extLst>
                <a:ext uri="{FF2B5EF4-FFF2-40B4-BE49-F238E27FC236}">
                  <a16:creationId xmlns:a16="http://schemas.microsoft.com/office/drawing/2014/main" id="{E5C0603B-2F25-9A7C-AB35-AA00308CCE61}"/>
                </a:ext>
              </a:extLst>
            </p:cNvPr>
            <p:cNvSpPr txBox="1"/>
            <p:nvPr/>
          </p:nvSpPr>
          <p:spPr>
            <a:xfrm>
              <a:off x="2108421" y="4586983"/>
              <a:ext cx="1318118" cy="461665"/>
            </a:xfrm>
            <a:prstGeom prst="rect">
              <a:avLst/>
            </a:prstGeom>
            <a:noFill/>
          </p:spPr>
          <p:txBody>
            <a:bodyPr wrap="none" rtlCol="0">
              <a:spAutoFit/>
            </a:bodyPr>
            <a:lstStyle/>
            <a:p>
              <a:pPr algn="ctr"/>
              <a:r>
                <a:rPr lang="en-GB" sz="2400" b="1" dirty="0">
                  <a:solidFill>
                    <a:srgbClr val="453E6C"/>
                  </a:solidFill>
                  <a:latin typeface="+mj-lt"/>
                  <a:cs typeface="Arial" panose="020B0604020202020204" pitchFamily="34" charset="0"/>
                </a:rPr>
                <a:t>~4 items</a:t>
              </a:r>
            </a:p>
          </p:txBody>
        </p:sp>
        <p:sp>
          <p:nvSpPr>
            <p:cNvPr id="21" name="TextBox 20">
              <a:extLst>
                <a:ext uri="{FF2B5EF4-FFF2-40B4-BE49-F238E27FC236}">
                  <a16:creationId xmlns:a16="http://schemas.microsoft.com/office/drawing/2014/main" id="{C8E61815-0285-3A4F-EEFD-EBDA23220652}"/>
                </a:ext>
              </a:extLst>
            </p:cNvPr>
            <p:cNvSpPr txBox="1"/>
            <p:nvPr/>
          </p:nvSpPr>
          <p:spPr>
            <a:xfrm>
              <a:off x="5180138" y="2165860"/>
              <a:ext cx="1960152" cy="646331"/>
            </a:xfrm>
            <a:prstGeom prst="rect">
              <a:avLst/>
            </a:prstGeom>
            <a:noFill/>
          </p:spPr>
          <p:txBody>
            <a:bodyPr wrap="none" rtlCol="0">
              <a:spAutoFit/>
            </a:bodyPr>
            <a:lstStyle/>
            <a:p>
              <a:pPr algn="ctr"/>
              <a:r>
                <a:rPr lang="en-GB" sz="3600" b="1" dirty="0">
                  <a:solidFill>
                    <a:srgbClr val="453E6C"/>
                  </a:solidFill>
                  <a:latin typeface="+mj-lt"/>
                  <a:cs typeface="Arial" panose="020B0604020202020204" pitchFamily="34" charset="0"/>
                </a:rPr>
                <a:t>ENCODE</a:t>
              </a:r>
            </a:p>
          </p:txBody>
        </p:sp>
        <p:sp>
          <p:nvSpPr>
            <p:cNvPr id="11" name="TextBox 10">
              <a:extLst>
                <a:ext uri="{FF2B5EF4-FFF2-40B4-BE49-F238E27FC236}">
                  <a16:creationId xmlns:a16="http://schemas.microsoft.com/office/drawing/2014/main" id="{71A12217-E28C-7D84-AE12-F3FB01E71202}"/>
                </a:ext>
              </a:extLst>
            </p:cNvPr>
            <p:cNvSpPr txBox="1"/>
            <p:nvPr/>
          </p:nvSpPr>
          <p:spPr>
            <a:xfrm>
              <a:off x="7871934" y="2617087"/>
              <a:ext cx="3247748" cy="1447512"/>
            </a:xfrm>
            <a:prstGeom prst="rect">
              <a:avLst/>
            </a:prstGeom>
            <a:noFill/>
          </p:spPr>
          <p:txBody>
            <a:bodyPr wrap="none" rtlCol="0">
              <a:spAutoFit/>
            </a:bodyPr>
            <a:lstStyle/>
            <a:p>
              <a:pPr algn="ctr">
                <a:lnSpc>
                  <a:spcPct val="80000"/>
                </a:lnSpc>
              </a:pPr>
              <a:r>
                <a:rPr lang="en-GB" sz="5400" b="1" dirty="0">
                  <a:solidFill>
                    <a:srgbClr val="453E6C"/>
                  </a:solidFill>
                  <a:latin typeface="+mj-lt"/>
                  <a:cs typeface="Arial" panose="020B0604020202020204" pitchFamily="34" charset="0"/>
                </a:rPr>
                <a:t>Long-term</a:t>
              </a:r>
            </a:p>
            <a:p>
              <a:pPr algn="ctr">
                <a:lnSpc>
                  <a:spcPct val="80000"/>
                </a:lnSpc>
              </a:pPr>
              <a:r>
                <a:rPr lang="en-GB" sz="5400" b="1" dirty="0">
                  <a:solidFill>
                    <a:srgbClr val="453E6C"/>
                  </a:solidFill>
                  <a:latin typeface="+mj-lt"/>
                  <a:cs typeface="Arial" panose="020B0604020202020204" pitchFamily="34" charset="0"/>
                </a:rPr>
                <a:t>Memory</a:t>
              </a:r>
            </a:p>
          </p:txBody>
        </p:sp>
        <p:sp>
          <p:nvSpPr>
            <p:cNvPr id="13" name="TextBox 12">
              <a:extLst>
                <a:ext uri="{FF2B5EF4-FFF2-40B4-BE49-F238E27FC236}">
                  <a16:creationId xmlns:a16="http://schemas.microsoft.com/office/drawing/2014/main" id="{6044625B-6D87-7E15-AAEC-D593DCA240BB}"/>
                </a:ext>
              </a:extLst>
            </p:cNvPr>
            <p:cNvSpPr txBox="1"/>
            <p:nvPr/>
          </p:nvSpPr>
          <p:spPr>
            <a:xfrm>
              <a:off x="8714504" y="4015146"/>
              <a:ext cx="1562607" cy="830997"/>
            </a:xfrm>
            <a:prstGeom prst="rect">
              <a:avLst/>
            </a:prstGeom>
            <a:noFill/>
          </p:spPr>
          <p:txBody>
            <a:bodyPr wrap="none" rtlCol="0">
              <a:spAutoFit/>
            </a:bodyPr>
            <a:lstStyle/>
            <a:p>
              <a:pPr algn="ctr"/>
              <a:r>
                <a:rPr lang="en-GB" sz="2400" b="1" dirty="0">
                  <a:solidFill>
                    <a:srgbClr val="453E6C"/>
                  </a:solidFill>
                  <a:latin typeface="+mj-lt"/>
                  <a:cs typeface="Arial" panose="020B0604020202020204" pitchFamily="34" charset="0"/>
                </a:rPr>
                <a:t>effectively</a:t>
              </a:r>
            </a:p>
            <a:p>
              <a:pPr algn="ctr"/>
              <a:r>
                <a:rPr lang="en-GB" sz="2400" b="1" dirty="0">
                  <a:solidFill>
                    <a:srgbClr val="453E6C"/>
                  </a:solidFill>
                  <a:latin typeface="+mj-lt"/>
                  <a:cs typeface="Arial" panose="020B0604020202020204" pitchFamily="34" charset="0"/>
                </a:rPr>
                <a:t>unlimited</a:t>
              </a:r>
            </a:p>
          </p:txBody>
        </p:sp>
        <p:grpSp>
          <p:nvGrpSpPr>
            <p:cNvPr id="15" name="Group 14">
              <a:extLst>
                <a:ext uri="{FF2B5EF4-FFF2-40B4-BE49-F238E27FC236}">
                  <a16:creationId xmlns:a16="http://schemas.microsoft.com/office/drawing/2014/main" id="{845C2B59-E14A-E192-B4AB-B0A98495D94E}"/>
                </a:ext>
              </a:extLst>
            </p:cNvPr>
            <p:cNvGrpSpPr/>
            <p:nvPr/>
          </p:nvGrpSpPr>
          <p:grpSpPr>
            <a:xfrm flipH="1" flipV="1">
              <a:off x="903054" y="-1770461"/>
              <a:ext cx="7932229" cy="7164206"/>
              <a:chOff x="3550782" y="1555282"/>
              <a:chExt cx="7932229" cy="7164206"/>
            </a:xfrm>
          </p:grpSpPr>
          <p:sp>
            <p:nvSpPr>
              <p:cNvPr id="3" name="Oval 2">
                <a:extLst>
                  <a:ext uri="{FF2B5EF4-FFF2-40B4-BE49-F238E27FC236}">
                    <a16:creationId xmlns:a16="http://schemas.microsoft.com/office/drawing/2014/main" id="{6029DF92-730D-D3C0-7ABC-0140485B6C56}"/>
                  </a:ext>
                </a:extLst>
              </p:cNvPr>
              <p:cNvSpPr/>
              <p:nvPr/>
            </p:nvSpPr>
            <p:spPr>
              <a:xfrm>
                <a:off x="7639880" y="1555282"/>
                <a:ext cx="3843131" cy="3843131"/>
              </a:xfrm>
              <a:prstGeom prst="ellipse">
                <a:avLst/>
              </a:prstGeom>
              <a:noFill/>
              <a:ln w="190500">
                <a:solidFill>
                  <a:srgbClr val="FE64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c 8">
                <a:extLst>
                  <a:ext uri="{FF2B5EF4-FFF2-40B4-BE49-F238E27FC236}">
                    <a16:creationId xmlns:a16="http://schemas.microsoft.com/office/drawing/2014/main" id="{B1A5C121-6E79-2978-190D-2EDB08117708}"/>
                  </a:ext>
                </a:extLst>
              </p:cNvPr>
              <p:cNvSpPr/>
              <p:nvPr/>
            </p:nvSpPr>
            <p:spPr>
              <a:xfrm rot="2700000" flipH="1">
                <a:off x="3550782" y="3691762"/>
                <a:ext cx="5027726" cy="5027726"/>
              </a:xfrm>
              <a:prstGeom prst="arc">
                <a:avLst>
                  <a:gd name="adj1" fmla="val 15732446"/>
                  <a:gd name="adj2" fmla="val 20452231"/>
                </a:avLst>
              </a:prstGeom>
              <a:ln w="190500">
                <a:solidFill>
                  <a:srgbClr val="FE640B"/>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grpSp>
        <p:grpSp>
          <p:nvGrpSpPr>
            <p:cNvPr id="17" name="Group 16">
              <a:extLst>
                <a:ext uri="{FF2B5EF4-FFF2-40B4-BE49-F238E27FC236}">
                  <a16:creationId xmlns:a16="http://schemas.microsoft.com/office/drawing/2014/main" id="{356D4A4C-B523-60F5-50D1-5ACA79E7446F}"/>
                </a:ext>
              </a:extLst>
            </p:cNvPr>
            <p:cNvGrpSpPr/>
            <p:nvPr/>
          </p:nvGrpSpPr>
          <p:grpSpPr>
            <a:xfrm>
              <a:off x="3485145" y="1550614"/>
              <a:ext cx="7932229" cy="7164206"/>
              <a:chOff x="3550782" y="1555282"/>
              <a:chExt cx="7932229" cy="7164206"/>
            </a:xfrm>
          </p:grpSpPr>
          <p:sp>
            <p:nvSpPr>
              <p:cNvPr id="19" name="Oval 18">
                <a:extLst>
                  <a:ext uri="{FF2B5EF4-FFF2-40B4-BE49-F238E27FC236}">
                    <a16:creationId xmlns:a16="http://schemas.microsoft.com/office/drawing/2014/main" id="{CA9F0183-7791-48C4-AB7A-48A1DE02AC80}"/>
                  </a:ext>
                </a:extLst>
              </p:cNvPr>
              <p:cNvSpPr/>
              <p:nvPr/>
            </p:nvSpPr>
            <p:spPr>
              <a:xfrm>
                <a:off x="7639880" y="1555282"/>
                <a:ext cx="3843131" cy="3843131"/>
              </a:xfrm>
              <a:prstGeom prst="ellipse">
                <a:avLst/>
              </a:prstGeom>
              <a:noFill/>
              <a:ln w="190500">
                <a:solidFill>
                  <a:srgbClr val="40A0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c 22">
                <a:extLst>
                  <a:ext uri="{FF2B5EF4-FFF2-40B4-BE49-F238E27FC236}">
                    <a16:creationId xmlns:a16="http://schemas.microsoft.com/office/drawing/2014/main" id="{07E03CFA-9914-8342-3B46-5EBFD0C9DF30}"/>
                  </a:ext>
                </a:extLst>
              </p:cNvPr>
              <p:cNvSpPr/>
              <p:nvPr/>
            </p:nvSpPr>
            <p:spPr>
              <a:xfrm rot="2700000" flipH="1">
                <a:off x="3550782" y="3691762"/>
                <a:ext cx="5027726" cy="5027726"/>
              </a:xfrm>
              <a:prstGeom prst="arc">
                <a:avLst>
                  <a:gd name="adj1" fmla="val 15732446"/>
                  <a:gd name="adj2" fmla="val 20452231"/>
                </a:avLst>
              </a:prstGeom>
              <a:ln w="190500">
                <a:solidFill>
                  <a:srgbClr val="40A02B"/>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grpSp>
        <p:sp>
          <p:nvSpPr>
            <p:cNvPr id="29" name="TextBox 28">
              <a:extLst>
                <a:ext uri="{FF2B5EF4-FFF2-40B4-BE49-F238E27FC236}">
                  <a16:creationId xmlns:a16="http://schemas.microsoft.com/office/drawing/2014/main" id="{2AFB1AD5-240E-F1AA-FB8E-3842A713492E}"/>
                </a:ext>
              </a:extLst>
            </p:cNvPr>
            <p:cNvSpPr txBox="1"/>
            <p:nvPr/>
          </p:nvSpPr>
          <p:spPr>
            <a:xfrm>
              <a:off x="5084745" y="4132147"/>
              <a:ext cx="2138983" cy="646331"/>
            </a:xfrm>
            <a:prstGeom prst="rect">
              <a:avLst/>
            </a:prstGeom>
            <a:noFill/>
          </p:spPr>
          <p:txBody>
            <a:bodyPr wrap="none" rtlCol="0">
              <a:spAutoFit/>
            </a:bodyPr>
            <a:lstStyle/>
            <a:p>
              <a:pPr algn="ctr"/>
              <a:r>
                <a:rPr lang="en-GB" sz="3600" b="1" dirty="0">
                  <a:solidFill>
                    <a:srgbClr val="453E6C"/>
                  </a:solidFill>
                  <a:latin typeface="+mj-lt"/>
                  <a:cs typeface="Arial" panose="020B0604020202020204" pitchFamily="34" charset="0"/>
                </a:rPr>
                <a:t>RETRIEVE</a:t>
              </a:r>
            </a:p>
          </p:txBody>
        </p:sp>
      </p:grpSp>
      <p:sp>
        <p:nvSpPr>
          <p:cNvPr id="31" name="Triangle 30">
            <a:extLst>
              <a:ext uri="{FF2B5EF4-FFF2-40B4-BE49-F238E27FC236}">
                <a16:creationId xmlns:a16="http://schemas.microsoft.com/office/drawing/2014/main" id="{683F08D4-9DB3-8ED0-B685-5304791ADCBB}"/>
              </a:ext>
            </a:extLst>
          </p:cNvPr>
          <p:cNvSpPr/>
          <p:nvPr/>
        </p:nvSpPr>
        <p:spPr>
          <a:xfrm>
            <a:off x="4800224" y="4636589"/>
            <a:ext cx="2591552" cy="2234096"/>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riangle 31">
            <a:extLst>
              <a:ext uri="{FF2B5EF4-FFF2-40B4-BE49-F238E27FC236}">
                <a16:creationId xmlns:a16="http://schemas.microsoft.com/office/drawing/2014/main" id="{0BCD4B55-ED39-5003-9F81-F0FB4C508030}"/>
              </a:ext>
            </a:extLst>
          </p:cNvPr>
          <p:cNvSpPr/>
          <p:nvPr/>
        </p:nvSpPr>
        <p:spPr>
          <a:xfrm flipV="1">
            <a:off x="4800224" y="-12686"/>
            <a:ext cx="2591552" cy="2234096"/>
          </a:xfrm>
          <a:prstGeom prst="triangle">
            <a:avLst/>
          </a:prstGeom>
          <a:solidFill>
            <a:schemeClr val="bg1">
              <a:lumMod val="75000"/>
            </a:schemeClr>
          </a:soli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2222AD2B-E471-D2C5-CA3E-34B433C83622}"/>
              </a:ext>
            </a:extLst>
          </p:cNvPr>
          <p:cNvSpPr/>
          <p:nvPr/>
        </p:nvSpPr>
        <p:spPr>
          <a:xfrm>
            <a:off x="1620756" y="4007157"/>
            <a:ext cx="484094" cy="484094"/>
          </a:xfrm>
          <a:prstGeom prst="rect">
            <a:avLst/>
          </a:prstGeom>
          <a:noFill/>
          <a:ln w="38100">
            <a:solidFill>
              <a:srgbClr val="453D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880D062B-955D-FF77-8E71-392165EA2F5A}"/>
              </a:ext>
            </a:extLst>
          </p:cNvPr>
          <p:cNvSpPr/>
          <p:nvPr/>
        </p:nvSpPr>
        <p:spPr>
          <a:xfrm>
            <a:off x="2223103" y="4007157"/>
            <a:ext cx="484094" cy="484094"/>
          </a:xfrm>
          <a:prstGeom prst="rect">
            <a:avLst/>
          </a:prstGeom>
          <a:noFill/>
          <a:ln w="38100">
            <a:solidFill>
              <a:srgbClr val="453D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91656073-1B45-B69A-DFE1-F7AD05223697}"/>
              </a:ext>
            </a:extLst>
          </p:cNvPr>
          <p:cNvSpPr/>
          <p:nvPr/>
        </p:nvSpPr>
        <p:spPr>
          <a:xfrm>
            <a:off x="2820908" y="4007157"/>
            <a:ext cx="484094" cy="484094"/>
          </a:xfrm>
          <a:prstGeom prst="rect">
            <a:avLst/>
          </a:prstGeom>
          <a:noFill/>
          <a:ln w="38100">
            <a:solidFill>
              <a:srgbClr val="453D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5F009EE-C793-F550-AC08-22CB938F2C6A}"/>
              </a:ext>
            </a:extLst>
          </p:cNvPr>
          <p:cNvSpPr/>
          <p:nvPr/>
        </p:nvSpPr>
        <p:spPr>
          <a:xfrm>
            <a:off x="3415961" y="4007157"/>
            <a:ext cx="484094" cy="484094"/>
          </a:xfrm>
          <a:prstGeom prst="rect">
            <a:avLst/>
          </a:prstGeom>
          <a:noFill/>
          <a:ln w="38100">
            <a:solidFill>
              <a:srgbClr val="453D6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5848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9251-6F14-F5FF-5924-D6D0078C1C18}"/>
            </a:ext>
          </a:extLst>
        </p:cNvPr>
        <p:cNvGrpSpPr/>
        <p:nvPr/>
      </p:nvGrpSpPr>
      <p:grpSpPr>
        <a:xfrm>
          <a:off x="0" y="0"/>
          <a:ext cx="0" cy="0"/>
          <a:chOff x="0" y="0"/>
          <a:chExt cx="0" cy="0"/>
        </a:xfrm>
      </p:grpSpPr>
      <p:sp>
        <p:nvSpPr>
          <p:cNvPr id="8" name="Freeform 7">
            <a:extLst>
              <a:ext uri="{FF2B5EF4-FFF2-40B4-BE49-F238E27FC236}">
                <a16:creationId xmlns:a16="http://schemas.microsoft.com/office/drawing/2014/main" id="{C1013A72-9F31-2F83-150E-33D4B7AE4515}"/>
              </a:ext>
            </a:extLst>
          </p:cNvPr>
          <p:cNvSpPr/>
          <p:nvPr/>
        </p:nvSpPr>
        <p:spPr>
          <a:xfrm flipV="1">
            <a:off x="3404845" y="915079"/>
            <a:ext cx="4943698" cy="1557499"/>
          </a:xfrm>
          <a:custGeom>
            <a:avLst/>
            <a:gdLst>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57491 h 2538799"/>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75420 h 2538799"/>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75420 h 2538799"/>
              <a:gd name="csX0" fmla="*/ 0 w 4937366"/>
              <a:gd name="csY0" fmla="*/ 1222955 h 2538799"/>
              <a:gd name="csX1" fmla="*/ 847492 w 4937366"/>
              <a:gd name="csY1" fmla="*/ 40925 h 2538799"/>
              <a:gd name="csX2" fmla="*/ 2230243 w 4937366"/>
              <a:gd name="csY2" fmla="*/ 2538799 h 2538799"/>
              <a:gd name="csX3" fmla="*/ 3412273 w 4937366"/>
              <a:gd name="csY3" fmla="*/ 40925 h 2538799"/>
              <a:gd name="csX4" fmla="*/ 4438185 w 4937366"/>
              <a:gd name="csY4" fmla="*/ 1445979 h 2538799"/>
              <a:gd name="csX5" fmla="*/ 4937366 w 4937366"/>
              <a:gd name="csY5" fmla="*/ 1638173 h 2538799"/>
              <a:gd name="csX0" fmla="*/ 0 w 4937366"/>
              <a:gd name="csY0" fmla="*/ 1222955 h 2538801"/>
              <a:gd name="csX1" fmla="*/ 847492 w 4937366"/>
              <a:gd name="csY1" fmla="*/ 40925 h 2538801"/>
              <a:gd name="csX2" fmla="*/ 2230243 w 4937366"/>
              <a:gd name="csY2" fmla="*/ 2538799 h 2538801"/>
              <a:gd name="csX3" fmla="*/ 3475026 w 4937366"/>
              <a:gd name="csY3" fmla="*/ 22996 h 2538801"/>
              <a:gd name="csX4" fmla="*/ 4438185 w 4937366"/>
              <a:gd name="csY4" fmla="*/ 1445979 h 2538801"/>
              <a:gd name="csX5" fmla="*/ 4937366 w 4937366"/>
              <a:gd name="csY5" fmla="*/ 1638173 h 2538801"/>
              <a:gd name="csX0" fmla="*/ 0 w 4937366"/>
              <a:gd name="csY0" fmla="*/ 1222955 h 2538801"/>
              <a:gd name="csX1" fmla="*/ 847492 w 4937366"/>
              <a:gd name="csY1" fmla="*/ 40925 h 2538801"/>
              <a:gd name="csX2" fmla="*/ 2230243 w 4937366"/>
              <a:gd name="csY2" fmla="*/ 2538799 h 2538801"/>
              <a:gd name="csX3" fmla="*/ 3475026 w 4937366"/>
              <a:gd name="csY3" fmla="*/ 22996 h 2538801"/>
              <a:gd name="csX4" fmla="*/ 4438185 w 4937366"/>
              <a:gd name="csY4" fmla="*/ 1445979 h 2538801"/>
              <a:gd name="csX5" fmla="*/ 4937366 w 4937366"/>
              <a:gd name="csY5" fmla="*/ 1638173 h 2538801"/>
              <a:gd name="csX0" fmla="*/ 0 w 4937366"/>
              <a:gd name="csY0" fmla="*/ 1225838 h 2541684"/>
              <a:gd name="csX1" fmla="*/ 847492 w 4937366"/>
              <a:gd name="csY1" fmla="*/ 43808 h 2541684"/>
              <a:gd name="csX2" fmla="*/ 2230243 w 4937366"/>
              <a:gd name="csY2" fmla="*/ 2541682 h 2541684"/>
              <a:gd name="csX3" fmla="*/ 3475026 w 4937366"/>
              <a:gd name="csY3" fmla="*/ 25879 h 2541684"/>
              <a:gd name="csX4" fmla="*/ 4258891 w 4937366"/>
              <a:gd name="csY4" fmla="*/ 1251639 h 2541684"/>
              <a:gd name="csX5" fmla="*/ 4937366 w 4937366"/>
              <a:gd name="csY5" fmla="*/ 1641056 h 2541684"/>
              <a:gd name="csX0" fmla="*/ 0 w 4937366"/>
              <a:gd name="csY0" fmla="*/ 1225838 h 2541684"/>
              <a:gd name="csX1" fmla="*/ 847492 w 4937366"/>
              <a:gd name="csY1" fmla="*/ 43808 h 2541684"/>
              <a:gd name="csX2" fmla="*/ 2230243 w 4937366"/>
              <a:gd name="csY2" fmla="*/ 2541682 h 2541684"/>
              <a:gd name="csX3" fmla="*/ 3475026 w 4937366"/>
              <a:gd name="csY3" fmla="*/ 25879 h 2541684"/>
              <a:gd name="csX4" fmla="*/ 4258891 w 4937366"/>
              <a:gd name="csY4" fmla="*/ 1251639 h 2541684"/>
              <a:gd name="csX5" fmla="*/ 4937366 w 4937366"/>
              <a:gd name="csY5" fmla="*/ 1641056 h 2541684"/>
              <a:gd name="csX0" fmla="*/ 0 w 4937366"/>
              <a:gd name="csY0" fmla="*/ 1230088 h 2545934"/>
              <a:gd name="csX1" fmla="*/ 847492 w 4937366"/>
              <a:gd name="csY1" fmla="*/ 48058 h 2545934"/>
              <a:gd name="csX2" fmla="*/ 2230243 w 4937366"/>
              <a:gd name="csY2" fmla="*/ 2545932 h 2545934"/>
              <a:gd name="csX3" fmla="*/ 3475026 w 4937366"/>
              <a:gd name="csY3" fmla="*/ 30129 h 2545934"/>
              <a:gd name="csX4" fmla="*/ 4258891 w 4937366"/>
              <a:gd name="csY4" fmla="*/ 1255889 h 2545934"/>
              <a:gd name="csX5" fmla="*/ 4937366 w 4937366"/>
              <a:gd name="csY5" fmla="*/ 1645306 h 2545934"/>
              <a:gd name="csX0" fmla="*/ 0 w 4937366"/>
              <a:gd name="csY0" fmla="*/ 1230088 h 2545934"/>
              <a:gd name="csX1" fmla="*/ 847492 w 4937366"/>
              <a:gd name="csY1" fmla="*/ 48058 h 2545934"/>
              <a:gd name="csX2" fmla="*/ 2230243 w 4937366"/>
              <a:gd name="csY2" fmla="*/ 2545932 h 2545934"/>
              <a:gd name="csX3" fmla="*/ 3475026 w 4937366"/>
              <a:gd name="csY3" fmla="*/ 30129 h 2545934"/>
              <a:gd name="csX4" fmla="*/ 4258891 w 4937366"/>
              <a:gd name="csY4" fmla="*/ 1255889 h 2545934"/>
              <a:gd name="csX5" fmla="*/ 4937366 w 4937366"/>
              <a:gd name="csY5" fmla="*/ 1645306 h 2545934"/>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60279 w 4937366"/>
              <a:gd name="csY4" fmla="*/ 1247512 h 2546521"/>
              <a:gd name="csX5" fmla="*/ 4937366 w 4937366"/>
              <a:gd name="csY5" fmla="*/ 1645893 h 2546521"/>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60279 w 4937366"/>
              <a:gd name="csY4" fmla="*/ 1247512 h 2546521"/>
              <a:gd name="csX5" fmla="*/ 4937366 w 4937366"/>
              <a:gd name="csY5" fmla="*/ 1645893 h 2546521"/>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51315 w 4937366"/>
              <a:gd name="csY4" fmla="*/ 1247512 h 2546521"/>
              <a:gd name="csX5" fmla="*/ 4937366 w 4937366"/>
              <a:gd name="csY5" fmla="*/ 1645893 h 2546521"/>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772645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772645 h 2538802"/>
              <a:gd name="csX0" fmla="*/ 0 w 4937366"/>
              <a:gd name="csY0" fmla="*/ 1222956 h 2538806"/>
              <a:gd name="csX1" fmla="*/ 847492 w 4937366"/>
              <a:gd name="csY1" fmla="*/ 40926 h 2538806"/>
              <a:gd name="csX2" fmla="*/ 2230243 w 4937366"/>
              <a:gd name="csY2" fmla="*/ 2538800 h 2538806"/>
              <a:gd name="csX3" fmla="*/ 3268838 w 4937366"/>
              <a:gd name="csY3" fmla="*/ 14032 h 2538806"/>
              <a:gd name="csX4" fmla="*/ 4937366 w 4937366"/>
              <a:gd name="csY4" fmla="*/ 1772645 h 2538806"/>
              <a:gd name="csX0" fmla="*/ 0 w 4937366"/>
              <a:gd name="csY0" fmla="*/ 1210710 h 2185902"/>
              <a:gd name="csX1" fmla="*/ 847492 w 4937366"/>
              <a:gd name="csY1" fmla="*/ 28680 h 2185902"/>
              <a:gd name="csX2" fmla="*/ 2086807 w 4937366"/>
              <a:gd name="csY2" fmla="*/ 2185895 h 2185902"/>
              <a:gd name="csX3" fmla="*/ 3268838 w 4937366"/>
              <a:gd name="csY3" fmla="*/ 1786 h 2185902"/>
              <a:gd name="csX4" fmla="*/ 4937366 w 4937366"/>
              <a:gd name="csY4" fmla="*/ 1760399 h 2185902"/>
              <a:gd name="csX0" fmla="*/ 0 w 4937366"/>
              <a:gd name="csY0" fmla="*/ 1210710 h 2186019"/>
              <a:gd name="csX1" fmla="*/ 829562 w 4937366"/>
              <a:gd name="csY1" fmla="*/ 109362 h 2186019"/>
              <a:gd name="csX2" fmla="*/ 2086807 w 4937366"/>
              <a:gd name="csY2" fmla="*/ 2185895 h 2186019"/>
              <a:gd name="csX3" fmla="*/ 3268838 w 4937366"/>
              <a:gd name="csY3" fmla="*/ 1786 h 2186019"/>
              <a:gd name="csX4" fmla="*/ 4937366 w 4937366"/>
              <a:gd name="csY4" fmla="*/ 1760399 h 2186019"/>
              <a:gd name="csX0" fmla="*/ 0 w 5018048"/>
              <a:gd name="csY0" fmla="*/ 1255533 h 2186018"/>
              <a:gd name="csX1" fmla="*/ 910244 w 5018048"/>
              <a:gd name="csY1" fmla="*/ 109362 h 2186018"/>
              <a:gd name="csX2" fmla="*/ 2167489 w 5018048"/>
              <a:gd name="csY2" fmla="*/ 2185895 h 2186018"/>
              <a:gd name="csX3" fmla="*/ 3349520 w 5018048"/>
              <a:gd name="csY3" fmla="*/ 1786 h 2186018"/>
              <a:gd name="csX4" fmla="*/ 5018048 w 5018048"/>
              <a:gd name="csY4" fmla="*/ 1760399 h 2186018"/>
              <a:gd name="csX0" fmla="*/ 0 w 5018048"/>
              <a:gd name="csY0" fmla="*/ 1256314 h 2734829"/>
              <a:gd name="csX1" fmla="*/ 910244 w 5018048"/>
              <a:gd name="csY1" fmla="*/ 110143 h 2734829"/>
              <a:gd name="csX2" fmla="*/ 2167489 w 5018048"/>
              <a:gd name="csY2" fmla="*/ 2186676 h 2734829"/>
              <a:gd name="csX3" fmla="*/ 3349520 w 5018048"/>
              <a:gd name="csY3" fmla="*/ 2567 h 2734829"/>
              <a:gd name="csX4" fmla="*/ 5018048 w 5018048"/>
              <a:gd name="csY4" fmla="*/ 2720881 h 2734829"/>
              <a:gd name="csX0" fmla="*/ 0 w 4967248"/>
              <a:gd name="csY0" fmla="*/ 452279 h 2942843"/>
              <a:gd name="csX1" fmla="*/ 859444 w 4967248"/>
              <a:gd name="csY1" fmla="*/ 318157 h 2942843"/>
              <a:gd name="csX2" fmla="*/ 2116689 w 4967248"/>
              <a:gd name="csY2" fmla="*/ 2394690 h 2942843"/>
              <a:gd name="csX3" fmla="*/ 3298720 w 4967248"/>
              <a:gd name="csY3" fmla="*/ 210581 h 2942843"/>
              <a:gd name="csX4" fmla="*/ 4967248 w 4967248"/>
              <a:gd name="csY4" fmla="*/ 2928895 h 2942843"/>
              <a:gd name="csX0" fmla="*/ 0 w 4967248"/>
              <a:gd name="csY0" fmla="*/ 258764 h 2749328"/>
              <a:gd name="csX1" fmla="*/ 859444 w 4967248"/>
              <a:gd name="csY1" fmla="*/ 124642 h 2749328"/>
              <a:gd name="csX2" fmla="*/ 2116689 w 4967248"/>
              <a:gd name="csY2" fmla="*/ 2201175 h 2749328"/>
              <a:gd name="csX3" fmla="*/ 3298720 w 4967248"/>
              <a:gd name="csY3" fmla="*/ 17066 h 2749328"/>
              <a:gd name="csX4" fmla="*/ 4967248 w 4967248"/>
              <a:gd name="csY4" fmla="*/ 2735380 h 2749328"/>
              <a:gd name="csX0" fmla="*/ 0 w 5089168"/>
              <a:gd name="csY0" fmla="*/ 22513 h 3019101"/>
              <a:gd name="csX1" fmla="*/ 981364 w 5089168"/>
              <a:gd name="csY1" fmla="*/ 394415 h 3019101"/>
              <a:gd name="csX2" fmla="*/ 2238609 w 5089168"/>
              <a:gd name="csY2" fmla="*/ 2470948 h 3019101"/>
              <a:gd name="csX3" fmla="*/ 3420640 w 5089168"/>
              <a:gd name="csY3" fmla="*/ 286839 h 3019101"/>
              <a:gd name="csX4" fmla="*/ 5089168 w 5089168"/>
              <a:gd name="csY4" fmla="*/ 3005153 h 3019101"/>
              <a:gd name="csX0" fmla="*/ 0 w 5089168"/>
              <a:gd name="csY0" fmla="*/ -1 h 2996587"/>
              <a:gd name="csX1" fmla="*/ 981364 w 5089168"/>
              <a:gd name="csY1" fmla="*/ 371901 h 2996587"/>
              <a:gd name="csX2" fmla="*/ 2238609 w 5089168"/>
              <a:gd name="csY2" fmla="*/ 2448434 h 2996587"/>
              <a:gd name="csX3" fmla="*/ 3420640 w 5089168"/>
              <a:gd name="csY3" fmla="*/ 264325 h 2996587"/>
              <a:gd name="csX4" fmla="*/ 5089168 w 5089168"/>
              <a:gd name="csY4" fmla="*/ 2982639 h 2996587"/>
              <a:gd name="csX0" fmla="*/ 0 w 5089168"/>
              <a:gd name="csY0" fmla="*/ 1 h 2448577"/>
              <a:gd name="csX1" fmla="*/ 981364 w 5089168"/>
              <a:gd name="csY1" fmla="*/ 371903 h 2448577"/>
              <a:gd name="csX2" fmla="*/ 2238609 w 5089168"/>
              <a:gd name="csY2" fmla="*/ 2448436 h 2448577"/>
              <a:gd name="csX3" fmla="*/ 3420640 w 5089168"/>
              <a:gd name="csY3" fmla="*/ 264327 h 2448577"/>
              <a:gd name="csX4" fmla="*/ 5089168 w 5089168"/>
              <a:gd name="csY4" fmla="*/ 1904642 h 2448577"/>
              <a:gd name="csX0" fmla="*/ 0 w 5089168"/>
              <a:gd name="csY0" fmla="*/ -1 h 1925483"/>
              <a:gd name="csX1" fmla="*/ 981364 w 5089168"/>
              <a:gd name="csY1" fmla="*/ 371901 h 1925483"/>
              <a:gd name="csX2" fmla="*/ 2230860 w 5089168"/>
              <a:gd name="csY2" fmla="*/ 1836236 h 1925483"/>
              <a:gd name="csX3" fmla="*/ 3420640 w 5089168"/>
              <a:gd name="csY3" fmla="*/ 264325 h 1925483"/>
              <a:gd name="csX4" fmla="*/ 5089168 w 5089168"/>
              <a:gd name="csY4" fmla="*/ 1904640 h 1925483"/>
              <a:gd name="csX0" fmla="*/ 0 w 5089168"/>
              <a:gd name="csY0" fmla="*/ 1 h 1982816"/>
              <a:gd name="csX1" fmla="*/ 981364 w 5089168"/>
              <a:gd name="csY1" fmla="*/ 371903 h 1982816"/>
              <a:gd name="csX2" fmla="*/ 2230860 w 5089168"/>
              <a:gd name="csY2" fmla="*/ 1982634 h 1982816"/>
              <a:gd name="csX3" fmla="*/ 3420640 w 5089168"/>
              <a:gd name="csY3" fmla="*/ 264327 h 1982816"/>
              <a:gd name="csX4" fmla="*/ 5089168 w 5089168"/>
              <a:gd name="csY4" fmla="*/ 1904642 h 1982816"/>
              <a:gd name="csX0" fmla="*/ 0 w 5089168"/>
              <a:gd name="csY0" fmla="*/ -1 h 2175706"/>
              <a:gd name="csX1" fmla="*/ 981364 w 5089168"/>
              <a:gd name="csY1" fmla="*/ 371901 h 2175706"/>
              <a:gd name="csX2" fmla="*/ 2230860 w 5089168"/>
              <a:gd name="csY2" fmla="*/ 1982632 h 2175706"/>
              <a:gd name="csX3" fmla="*/ 3420640 w 5089168"/>
              <a:gd name="csY3" fmla="*/ 264325 h 2175706"/>
              <a:gd name="csX4" fmla="*/ 5089168 w 5089168"/>
              <a:gd name="csY4" fmla="*/ 2157029 h 2175706"/>
              <a:gd name="csX0" fmla="*/ 0 w 4942210"/>
              <a:gd name="csY0" fmla="*/ 1 h 2147861"/>
              <a:gd name="csX1" fmla="*/ 981364 w 4942210"/>
              <a:gd name="csY1" fmla="*/ 371903 h 2147861"/>
              <a:gd name="csX2" fmla="*/ 2230860 w 4942210"/>
              <a:gd name="csY2" fmla="*/ 1982634 h 2147861"/>
              <a:gd name="csX3" fmla="*/ 3420640 w 4942210"/>
              <a:gd name="csY3" fmla="*/ 264327 h 2147861"/>
              <a:gd name="csX4" fmla="*/ 4942210 w 4942210"/>
              <a:gd name="csY4" fmla="*/ 2128989 h 2147861"/>
              <a:gd name="csX0" fmla="*/ 0 w 4959463"/>
              <a:gd name="csY0" fmla="*/ -1 h 1982816"/>
              <a:gd name="csX1" fmla="*/ 981364 w 4959463"/>
              <a:gd name="csY1" fmla="*/ 371901 h 1982816"/>
              <a:gd name="csX2" fmla="*/ 2230860 w 4959463"/>
              <a:gd name="csY2" fmla="*/ 1982632 h 1982816"/>
              <a:gd name="csX3" fmla="*/ 3420640 w 4959463"/>
              <a:gd name="csY3" fmla="*/ 264325 h 1982816"/>
              <a:gd name="csX4" fmla="*/ 4959463 w 4959463"/>
              <a:gd name="csY4" fmla="*/ 1832681 h 1982816"/>
              <a:gd name="csX0" fmla="*/ 0 w 4943698"/>
              <a:gd name="csY0" fmla="*/ 0 h 3309591"/>
              <a:gd name="csX1" fmla="*/ 965599 w 4943698"/>
              <a:gd name="csY1" fmla="*/ 1698639 h 3309591"/>
              <a:gd name="csX2" fmla="*/ 2215095 w 4943698"/>
              <a:gd name="csY2" fmla="*/ 3309370 h 3309591"/>
              <a:gd name="csX3" fmla="*/ 3404875 w 4943698"/>
              <a:gd name="csY3" fmla="*/ 1591063 h 3309591"/>
              <a:gd name="csX4" fmla="*/ 4943698 w 4943698"/>
              <a:gd name="csY4" fmla="*/ 3159419 h 3309591"/>
              <a:gd name="csX0" fmla="*/ 0 w 4943698"/>
              <a:gd name="csY0" fmla="*/ 0 h 3309801"/>
              <a:gd name="csX1" fmla="*/ 1075957 w 4943698"/>
              <a:gd name="csY1" fmla="*/ 1400802 h 3309801"/>
              <a:gd name="csX2" fmla="*/ 2215095 w 4943698"/>
              <a:gd name="csY2" fmla="*/ 3309370 h 3309801"/>
              <a:gd name="csX3" fmla="*/ 3404875 w 4943698"/>
              <a:gd name="csY3" fmla="*/ 1591063 h 3309801"/>
              <a:gd name="csX4" fmla="*/ 4943698 w 4943698"/>
              <a:gd name="csY4" fmla="*/ 3159419 h 3309801"/>
              <a:gd name="csX0" fmla="*/ 0 w 4943698"/>
              <a:gd name="csY0" fmla="*/ 0 h 3320384"/>
              <a:gd name="csX1" fmla="*/ 886771 w 4943698"/>
              <a:gd name="csY1" fmla="*/ 2213088 h 3320384"/>
              <a:gd name="csX2" fmla="*/ 2215095 w 4943698"/>
              <a:gd name="csY2" fmla="*/ 3309370 h 3320384"/>
              <a:gd name="csX3" fmla="*/ 3404875 w 4943698"/>
              <a:gd name="csY3" fmla="*/ 1591063 h 3320384"/>
              <a:gd name="csX4" fmla="*/ 4943698 w 4943698"/>
              <a:gd name="csY4" fmla="*/ 3159419 h 3320384"/>
              <a:gd name="csX0" fmla="*/ 0 w 4943698"/>
              <a:gd name="csY0" fmla="*/ 0 h 3336313"/>
              <a:gd name="csX1" fmla="*/ 886771 w 4943698"/>
              <a:gd name="csY1" fmla="*/ 2213088 h 3336313"/>
              <a:gd name="csX2" fmla="*/ 2215095 w 4943698"/>
              <a:gd name="csY2" fmla="*/ 3309370 h 3336313"/>
              <a:gd name="csX3" fmla="*/ 3404875 w 4943698"/>
              <a:gd name="csY3" fmla="*/ 1591063 h 3336313"/>
              <a:gd name="csX4" fmla="*/ 4943698 w 4943698"/>
              <a:gd name="csY4" fmla="*/ 3159419 h 3336313"/>
              <a:gd name="csX0" fmla="*/ 0 w 4943698"/>
              <a:gd name="csY0" fmla="*/ 0 h 3798991"/>
              <a:gd name="csX1" fmla="*/ 886771 w 4943698"/>
              <a:gd name="csY1" fmla="*/ 2213088 h 3798991"/>
              <a:gd name="csX2" fmla="*/ 2215095 w 4943698"/>
              <a:gd name="csY2" fmla="*/ 3309370 h 3798991"/>
              <a:gd name="csX3" fmla="*/ 3404875 w 4943698"/>
              <a:gd name="csY3" fmla="*/ 1591063 h 3798991"/>
              <a:gd name="csX4" fmla="*/ 4943698 w 4943698"/>
              <a:gd name="csY4" fmla="*/ 3782172 h 3798991"/>
              <a:gd name="csX0" fmla="*/ 0 w 4943698"/>
              <a:gd name="csY0" fmla="*/ 0 h 3798816"/>
              <a:gd name="csX1" fmla="*/ 886771 w 4943698"/>
              <a:gd name="csY1" fmla="*/ 2213088 h 3798816"/>
              <a:gd name="csX2" fmla="*/ 2041674 w 4943698"/>
              <a:gd name="csY2" fmla="*/ 3471827 h 3798816"/>
              <a:gd name="csX3" fmla="*/ 3404875 w 4943698"/>
              <a:gd name="csY3" fmla="*/ 1591063 h 3798816"/>
              <a:gd name="csX4" fmla="*/ 4943698 w 4943698"/>
              <a:gd name="csY4" fmla="*/ 3782172 h 3798816"/>
              <a:gd name="csX0" fmla="*/ 0 w 4943698"/>
              <a:gd name="csY0" fmla="*/ 0 h 3798816"/>
              <a:gd name="csX1" fmla="*/ 792178 w 4943698"/>
              <a:gd name="csY1" fmla="*/ 2321392 h 3798816"/>
              <a:gd name="csX2" fmla="*/ 2041674 w 4943698"/>
              <a:gd name="csY2" fmla="*/ 3471827 h 3798816"/>
              <a:gd name="csX3" fmla="*/ 3404875 w 4943698"/>
              <a:gd name="csY3" fmla="*/ 1591063 h 3798816"/>
              <a:gd name="csX4" fmla="*/ 4943698 w 4943698"/>
              <a:gd name="csY4" fmla="*/ 3782172 h 3798816"/>
              <a:gd name="csX0" fmla="*/ 0 w 4943698"/>
              <a:gd name="csY0" fmla="*/ 0 h 3798816"/>
              <a:gd name="csX1" fmla="*/ 792178 w 4943698"/>
              <a:gd name="csY1" fmla="*/ 2321392 h 3798816"/>
              <a:gd name="csX2" fmla="*/ 2041674 w 4943698"/>
              <a:gd name="csY2" fmla="*/ 3471827 h 3798816"/>
              <a:gd name="csX3" fmla="*/ 3404875 w 4943698"/>
              <a:gd name="csY3" fmla="*/ 1591063 h 3798816"/>
              <a:gd name="csX4" fmla="*/ 4943698 w 4943698"/>
              <a:gd name="csY4" fmla="*/ 3782172 h 3798816"/>
              <a:gd name="csX0" fmla="*/ 0 w 4943698"/>
              <a:gd name="csY0" fmla="*/ 0 h 3798816"/>
              <a:gd name="csX1" fmla="*/ 776412 w 4943698"/>
              <a:gd name="csY1" fmla="*/ 2131860 h 3798816"/>
              <a:gd name="csX2" fmla="*/ 2041674 w 4943698"/>
              <a:gd name="csY2" fmla="*/ 3471827 h 3798816"/>
              <a:gd name="csX3" fmla="*/ 3404875 w 4943698"/>
              <a:gd name="csY3" fmla="*/ 1591063 h 3798816"/>
              <a:gd name="csX4" fmla="*/ 4943698 w 4943698"/>
              <a:gd name="csY4" fmla="*/ 3782172 h 3798816"/>
              <a:gd name="csX0" fmla="*/ 0 w 4943698"/>
              <a:gd name="csY0" fmla="*/ 0 h 3800369"/>
              <a:gd name="csX1" fmla="*/ 776412 w 4943698"/>
              <a:gd name="csY1" fmla="*/ 2131860 h 3800369"/>
              <a:gd name="csX2" fmla="*/ 2041674 w 4943698"/>
              <a:gd name="csY2" fmla="*/ 3471827 h 3800369"/>
              <a:gd name="csX3" fmla="*/ 3404875 w 4943698"/>
              <a:gd name="csY3" fmla="*/ 1807674 h 3800369"/>
              <a:gd name="csX4" fmla="*/ 4943698 w 4943698"/>
              <a:gd name="csY4" fmla="*/ 3782172 h 3800369"/>
              <a:gd name="csX0" fmla="*/ 0 w 4943698"/>
              <a:gd name="csY0" fmla="*/ 0 h 3800369"/>
              <a:gd name="csX1" fmla="*/ 776412 w 4943698"/>
              <a:gd name="csY1" fmla="*/ 2131860 h 3800369"/>
              <a:gd name="csX2" fmla="*/ 2041674 w 4943698"/>
              <a:gd name="csY2" fmla="*/ 3471827 h 3800369"/>
              <a:gd name="csX3" fmla="*/ 3404875 w 4943698"/>
              <a:gd name="csY3" fmla="*/ 1807674 h 3800369"/>
              <a:gd name="csX4" fmla="*/ 4943698 w 4943698"/>
              <a:gd name="csY4" fmla="*/ 3782172 h 3800369"/>
              <a:gd name="csX0" fmla="*/ 0 w 4943698"/>
              <a:gd name="csY0" fmla="*/ 0 h 3800369"/>
              <a:gd name="csX1" fmla="*/ 776412 w 4943698"/>
              <a:gd name="csY1" fmla="*/ 2131860 h 3800369"/>
              <a:gd name="csX2" fmla="*/ 2041674 w 4943698"/>
              <a:gd name="csY2" fmla="*/ 3471827 h 3800369"/>
              <a:gd name="csX3" fmla="*/ 3404875 w 4943698"/>
              <a:gd name="csY3" fmla="*/ 1807674 h 3800369"/>
              <a:gd name="csX4" fmla="*/ 4943698 w 4943698"/>
              <a:gd name="csY4" fmla="*/ 3782172 h 3800369"/>
              <a:gd name="csX0" fmla="*/ 0 w 4943698"/>
              <a:gd name="csY0" fmla="*/ 0 h 3800369"/>
              <a:gd name="csX1" fmla="*/ 776412 w 4943698"/>
              <a:gd name="csY1" fmla="*/ 2131860 h 3800369"/>
              <a:gd name="csX2" fmla="*/ 2041674 w 4943698"/>
              <a:gd name="csY2" fmla="*/ 3471827 h 3800369"/>
              <a:gd name="csX3" fmla="*/ 3404875 w 4943698"/>
              <a:gd name="csY3" fmla="*/ 1807674 h 3800369"/>
              <a:gd name="csX4" fmla="*/ 4943698 w 4943698"/>
              <a:gd name="csY4" fmla="*/ 3782172 h 3800369"/>
              <a:gd name="csX0" fmla="*/ 0 w 4943698"/>
              <a:gd name="csY0" fmla="*/ 0 h 3800369"/>
              <a:gd name="csX1" fmla="*/ 965598 w 4943698"/>
              <a:gd name="csY1" fmla="*/ 2023555 h 3800369"/>
              <a:gd name="csX2" fmla="*/ 2041674 w 4943698"/>
              <a:gd name="csY2" fmla="*/ 3471827 h 3800369"/>
              <a:gd name="csX3" fmla="*/ 3404875 w 4943698"/>
              <a:gd name="csY3" fmla="*/ 1807674 h 3800369"/>
              <a:gd name="csX4" fmla="*/ 4943698 w 4943698"/>
              <a:gd name="csY4" fmla="*/ 3782172 h 3800369"/>
              <a:gd name="csX0" fmla="*/ 0 w 4943698"/>
              <a:gd name="csY0" fmla="*/ 0 h 2674901"/>
              <a:gd name="csX1" fmla="*/ 965598 w 4943698"/>
              <a:gd name="csY1" fmla="*/ 898087 h 2674901"/>
              <a:gd name="csX2" fmla="*/ 2041674 w 4943698"/>
              <a:gd name="csY2" fmla="*/ 2346359 h 2674901"/>
              <a:gd name="csX3" fmla="*/ 3404875 w 4943698"/>
              <a:gd name="csY3" fmla="*/ 682206 h 2674901"/>
              <a:gd name="csX4" fmla="*/ 4943698 w 4943698"/>
              <a:gd name="csY4" fmla="*/ 2656704 h 2674901"/>
              <a:gd name="csX0" fmla="*/ 0 w 4943698"/>
              <a:gd name="csY0" fmla="*/ 0 h 2674901"/>
              <a:gd name="csX1" fmla="*/ 965598 w 4943698"/>
              <a:gd name="csY1" fmla="*/ 898087 h 2674901"/>
              <a:gd name="csX2" fmla="*/ 2041674 w 4943698"/>
              <a:gd name="csY2" fmla="*/ 2346359 h 2674901"/>
              <a:gd name="csX3" fmla="*/ 3404875 w 4943698"/>
              <a:gd name="csY3" fmla="*/ 682206 h 2674901"/>
              <a:gd name="csX4" fmla="*/ 4943698 w 4943698"/>
              <a:gd name="csY4" fmla="*/ 2656704 h 2674901"/>
            </a:gdLst>
            <a:ahLst/>
            <a:cxnLst>
              <a:cxn ang="0">
                <a:pos x="csX0" y="csY0"/>
              </a:cxn>
              <a:cxn ang="0">
                <a:pos x="csX1" y="csY1"/>
              </a:cxn>
              <a:cxn ang="0">
                <a:pos x="csX2" y="csY2"/>
              </a:cxn>
              <a:cxn ang="0">
                <a:pos x="csX3" y="csY3"/>
              </a:cxn>
              <a:cxn ang="0">
                <a:pos x="csX4" y="csY4"/>
              </a:cxn>
            </a:cxnLst>
            <a:rect l="l" t="t" r="r" b="b"/>
            <a:pathLst>
              <a:path w="4943698" h="2674901">
                <a:moveTo>
                  <a:pt x="0" y="0"/>
                </a:moveTo>
                <a:cubicBezTo>
                  <a:pt x="461412" y="14745"/>
                  <a:pt x="686279" y="271464"/>
                  <a:pt x="965598" y="898087"/>
                </a:cubicBezTo>
                <a:cubicBezTo>
                  <a:pt x="1244917" y="1524710"/>
                  <a:pt x="1635128" y="2382339"/>
                  <a:pt x="2041674" y="2346359"/>
                </a:cubicBezTo>
                <a:cubicBezTo>
                  <a:pt x="2448220" y="2310379"/>
                  <a:pt x="2921204" y="630482"/>
                  <a:pt x="3404875" y="682206"/>
                </a:cubicBezTo>
                <a:cubicBezTo>
                  <a:pt x="3888546" y="733930"/>
                  <a:pt x="3518456" y="2893950"/>
                  <a:pt x="4943698" y="2656704"/>
                </a:cubicBezTo>
              </a:path>
            </a:pathLst>
          </a:custGeom>
          <a:noFill/>
          <a:ln w="190500">
            <a:gradFill>
              <a:gsLst>
                <a:gs pos="0">
                  <a:srgbClr val="453E6C"/>
                </a:gs>
                <a:gs pos="100000">
                  <a:srgbClr val="7C70C5">
                    <a:alpha val="81001"/>
                  </a:srgbClr>
                </a:gs>
              </a:gsLst>
              <a:lin ang="0" scaled="0"/>
            </a:gra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6" name="Group 45">
            <a:extLst>
              <a:ext uri="{FF2B5EF4-FFF2-40B4-BE49-F238E27FC236}">
                <a16:creationId xmlns:a16="http://schemas.microsoft.com/office/drawing/2014/main" id="{13B2341E-A4DA-2C8F-CD8C-180CC3B5EE05}"/>
              </a:ext>
            </a:extLst>
          </p:cNvPr>
          <p:cNvGrpSpPr/>
          <p:nvPr/>
        </p:nvGrpSpPr>
        <p:grpSpPr>
          <a:xfrm>
            <a:off x="1371212" y="3712553"/>
            <a:ext cx="7142948" cy="1402101"/>
            <a:chOff x="1371212" y="3712553"/>
            <a:chExt cx="7142948" cy="1402101"/>
          </a:xfrm>
        </p:grpSpPr>
        <p:sp>
          <p:nvSpPr>
            <p:cNvPr id="42" name="Rounded Rectangle 41">
              <a:extLst>
                <a:ext uri="{FF2B5EF4-FFF2-40B4-BE49-F238E27FC236}">
                  <a16:creationId xmlns:a16="http://schemas.microsoft.com/office/drawing/2014/main" id="{7682B443-6384-CD11-26A9-0DC3A78F2320}"/>
                </a:ext>
              </a:extLst>
            </p:cNvPr>
            <p:cNvSpPr/>
            <p:nvPr/>
          </p:nvSpPr>
          <p:spPr>
            <a:xfrm>
              <a:off x="1371212" y="3712553"/>
              <a:ext cx="2059652" cy="1402101"/>
            </a:xfrm>
            <a:prstGeom prst="roundRect">
              <a:avLst>
                <a:gd name="adj" fmla="val 6413"/>
              </a:avLst>
            </a:prstGeom>
            <a:solidFill>
              <a:srgbClr val="3F9F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pPr>
              <a:endParaRPr lang="en-GB" sz="4400" b="1" dirty="0"/>
            </a:p>
          </p:txBody>
        </p:sp>
        <p:grpSp>
          <p:nvGrpSpPr>
            <p:cNvPr id="9" name="Group 8">
              <a:extLst>
                <a:ext uri="{FF2B5EF4-FFF2-40B4-BE49-F238E27FC236}">
                  <a16:creationId xmlns:a16="http://schemas.microsoft.com/office/drawing/2014/main" id="{C911C163-860C-6607-CD7B-61D922959831}"/>
                </a:ext>
              </a:extLst>
            </p:cNvPr>
            <p:cNvGrpSpPr/>
            <p:nvPr/>
          </p:nvGrpSpPr>
          <p:grpSpPr>
            <a:xfrm>
              <a:off x="1628567" y="3925798"/>
              <a:ext cx="6885593" cy="965327"/>
              <a:chOff x="2843589" y="3925798"/>
              <a:chExt cx="6885593" cy="965327"/>
            </a:xfrm>
          </p:grpSpPr>
          <p:cxnSp>
            <p:nvCxnSpPr>
              <p:cNvPr id="5126" name="Straight Arrow Connector 5125">
                <a:extLst>
                  <a:ext uri="{FF2B5EF4-FFF2-40B4-BE49-F238E27FC236}">
                    <a16:creationId xmlns:a16="http://schemas.microsoft.com/office/drawing/2014/main" id="{746F070C-E188-9F58-2A23-236F97F428E5}"/>
                  </a:ext>
                </a:extLst>
              </p:cNvPr>
              <p:cNvCxnSpPr>
                <a:cxnSpLocks/>
              </p:cNvCxnSpPr>
              <p:nvPr/>
            </p:nvCxnSpPr>
            <p:spPr>
              <a:xfrm>
                <a:off x="4640014" y="4452717"/>
                <a:ext cx="5089168" cy="0"/>
              </a:xfrm>
              <a:prstGeom prst="straightConnector1">
                <a:avLst/>
              </a:prstGeom>
              <a:ln w="190500">
                <a:solidFill>
                  <a:srgbClr val="40A02B"/>
                </a:solidFill>
                <a:tailEnd type="triangle"/>
              </a:ln>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D0DC83D2-8EF5-CE9E-6EF7-9E6F51326037}"/>
                  </a:ext>
                </a:extLst>
              </p:cNvPr>
              <p:cNvGrpSpPr/>
              <p:nvPr/>
            </p:nvGrpSpPr>
            <p:grpSpPr>
              <a:xfrm>
                <a:off x="2843589" y="3925798"/>
                <a:ext cx="1546685" cy="965327"/>
                <a:chOff x="2423212" y="5166092"/>
                <a:chExt cx="1887452" cy="1178009"/>
              </a:xfrm>
            </p:grpSpPr>
            <p:sp>
              <p:nvSpPr>
                <p:cNvPr id="28" name="Rounded Rectangle 27">
                  <a:extLst>
                    <a:ext uri="{FF2B5EF4-FFF2-40B4-BE49-F238E27FC236}">
                      <a16:creationId xmlns:a16="http://schemas.microsoft.com/office/drawing/2014/main" id="{D11D24FC-2A4E-C25B-E593-611F41E802B2}"/>
                    </a:ext>
                  </a:extLst>
                </p:cNvPr>
                <p:cNvSpPr/>
                <p:nvPr/>
              </p:nvSpPr>
              <p:spPr>
                <a:xfrm>
                  <a:off x="2423212" y="5166092"/>
                  <a:ext cx="1887452" cy="1178009"/>
                </a:xfrm>
                <a:prstGeom prst="roundRect">
                  <a:avLst>
                    <a:gd name="adj" fmla="val 10361"/>
                  </a:avLst>
                </a:prstGeom>
                <a:no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riangle 29">
                  <a:extLst>
                    <a:ext uri="{FF2B5EF4-FFF2-40B4-BE49-F238E27FC236}">
                      <a16:creationId xmlns:a16="http://schemas.microsoft.com/office/drawing/2014/main" id="{69038335-9A73-1627-54AD-858F2009CB0B}"/>
                    </a:ext>
                  </a:extLst>
                </p:cNvPr>
                <p:cNvSpPr/>
                <p:nvPr/>
              </p:nvSpPr>
              <p:spPr>
                <a:xfrm>
                  <a:off x="2486022" y="5741462"/>
                  <a:ext cx="1190301" cy="59407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riangle 30">
                  <a:extLst>
                    <a:ext uri="{FF2B5EF4-FFF2-40B4-BE49-F238E27FC236}">
                      <a16:creationId xmlns:a16="http://schemas.microsoft.com/office/drawing/2014/main" id="{C43ACA81-51EA-F90D-5AE8-539494F55445}"/>
                    </a:ext>
                  </a:extLst>
                </p:cNvPr>
                <p:cNvSpPr/>
                <p:nvPr/>
              </p:nvSpPr>
              <p:spPr>
                <a:xfrm>
                  <a:off x="3365874" y="5958675"/>
                  <a:ext cx="882516" cy="377986"/>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3" name="Straight Connector 32">
                  <a:extLst>
                    <a:ext uri="{FF2B5EF4-FFF2-40B4-BE49-F238E27FC236}">
                      <a16:creationId xmlns:a16="http://schemas.microsoft.com/office/drawing/2014/main" id="{EC3436D2-5A28-3CC5-A2C0-58FA5C4F008F}"/>
                    </a:ext>
                  </a:extLst>
                </p:cNvPr>
                <p:cNvCxnSpPr>
                  <a:cxnSpLocks/>
                </p:cNvCxnSpPr>
                <p:nvPr/>
              </p:nvCxnSpPr>
              <p:spPr>
                <a:xfrm>
                  <a:off x="3161996" y="5809102"/>
                  <a:ext cx="496942" cy="497948"/>
                </a:xfrm>
                <a:prstGeom prst="line">
                  <a:avLst/>
                </a:prstGeom>
                <a:ln>
                  <a:solidFill>
                    <a:srgbClr val="40A02B"/>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6D8AC102-FA15-EFA2-3FB0-4239A6767C68}"/>
                    </a:ext>
                  </a:extLst>
                </p:cNvPr>
                <p:cNvSpPr/>
                <p:nvPr/>
              </p:nvSpPr>
              <p:spPr>
                <a:xfrm>
                  <a:off x="3747497" y="5324935"/>
                  <a:ext cx="352540" cy="3525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21" name="TextBox 20">
            <a:extLst>
              <a:ext uri="{FF2B5EF4-FFF2-40B4-BE49-F238E27FC236}">
                <a16:creationId xmlns:a16="http://schemas.microsoft.com/office/drawing/2014/main" id="{04C137B9-65FE-43EA-917D-354380FCFABF}"/>
              </a:ext>
            </a:extLst>
          </p:cNvPr>
          <p:cNvSpPr txBox="1"/>
          <p:nvPr/>
        </p:nvSpPr>
        <p:spPr>
          <a:xfrm>
            <a:off x="8767010" y="817736"/>
            <a:ext cx="2543645" cy="646331"/>
          </a:xfrm>
          <a:prstGeom prst="rect">
            <a:avLst/>
          </a:prstGeom>
          <a:noFill/>
        </p:spPr>
        <p:txBody>
          <a:bodyPr wrap="none" rtlCol="0">
            <a:spAutoFit/>
          </a:bodyPr>
          <a:lstStyle/>
          <a:p>
            <a:r>
              <a:rPr lang="en-GB" sz="3600" b="1" dirty="0">
                <a:solidFill>
                  <a:srgbClr val="D20F39"/>
                </a:solidFill>
                <a:latin typeface="+mj-lt"/>
              </a:rPr>
              <a:t>COMPETES</a:t>
            </a:r>
          </a:p>
        </p:txBody>
      </p:sp>
      <p:sp>
        <p:nvSpPr>
          <p:cNvPr id="22" name="TextBox 21">
            <a:extLst>
              <a:ext uri="{FF2B5EF4-FFF2-40B4-BE49-F238E27FC236}">
                <a16:creationId xmlns:a16="http://schemas.microsoft.com/office/drawing/2014/main" id="{88B3D95E-87D7-440C-1D6B-C6D931D86A9B}"/>
              </a:ext>
            </a:extLst>
          </p:cNvPr>
          <p:cNvSpPr txBox="1"/>
          <p:nvPr/>
        </p:nvSpPr>
        <p:spPr>
          <a:xfrm>
            <a:off x="8295470" y="4802226"/>
            <a:ext cx="3486724" cy="646331"/>
          </a:xfrm>
          <a:prstGeom prst="rect">
            <a:avLst/>
          </a:prstGeom>
          <a:noFill/>
        </p:spPr>
        <p:txBody>
          <a:bodyPr wrap="none" rtlCol="0">
            <a:spAutoFit/>
          </a:bodyPr>
          <a:lstStyle/>
          <a:p>
            <a:r>
              <a:rPr lang="en-GB" sz="3600" b="1" dirty="0">
                <a:solidFill>
                  <a:srgbClr val="40A02B"/>
                </a:solidFill>
                <a:latin typeface="+mj-lt"/>
              </a:rPr>
              <a:t>COMPLEMENTS</a:t>
            </a:r>
          </a:p>
        </p:txBody>
      </p:sp>
      <p:grpSp>
        <p:nvGrpSpPr>
          <p:cNvPr id="50" name="Group 49">
            <a:extLst>
              <a:ext uri="{FF2B5EF4-FFF2-40B4-BE49-F238E27FC236}">
                <a16:creationId xmlns:a16="http://schemas.microsoft.com/office/drawing/2014/main" id="{3D4A427D-EC4D-9BF8-3BC0-CE1F178B6DE1}"/>
              </a:ext>
            </a:extLst>
          </p:cNvPr>
          <p:cNvGrpSpPr/>
          <p:nvPr/>
        </p:nvGrpSpPr>
        <p:grpSpPr>
          <a:xfrm>
            <a:off x="1362549" y="264312"/>
            <a:ext cx="7131464" cy="1670496"/>
            <a:chOff x="1362549" y="264312"/>
            <a:chExt cx="7131464" cy="1670496"/>
          </a:xfrm>
        </p:grpSpPr>
        <p:sp>
          <p:nvSpPr>
            <p:cNvPr id="3" name="Freeform 2">
              <a:extLst>
                <a:ext uri="{FF2B5EF4-FFF2-40B4-BE49-F238E27FC236}">
                  <a16:creationId xmlns:a16="http://schemas.microsoft.com/office/drawing/2014/main" id="{6CBA03EE-A828-80A3-51EE-BC071020F1F9}"/>
                </a:ext>
              </a:extLst>
            </p:cNvPr>
            <p:cNvSpPr/>
            <p:nvPr/>
          </p:nvSpPr>
          <p:spPr>
            <a:xfrm>
              <a:off x="3394087" y="975774"/>
              <a:ext cx="5099926" cy="959034"/>
            </a:xfrm>
            <a:custGeom>
              <a:avLst/>
              <a:gdLst>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57491 h 2538799"/>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75420 h 2538799"/>
                <a:gd name="csX0" fmla="*/ 0 w 5018048"/>
                <a:gd name="csY0" fmla="*/ 1222955 h 2538799"/>
                <a:gd name="csX1" fmla="*/ 847492 w 5018048"/>
                <a:gd name="csY1" fmla="*/ 40925 h 2538799"/>
                <a:gd name="csX2" fmla="*/ 2230243 w 5018048"/>
                <a:gd name="csY2" fmla="*/ 2538799 h 2538799"/>
                <a:gd name="csX3" fmla="*/ 3412273 w 5018048"/>
                <a:gd name="csY3" fmla="*/ 40925 h 2538799"/>
                <a:gd name="csX4" fmla="*/ 4438185 w 5018048"/>
                <a:gd name="csY4" fmla="*/ 1445979 h 2538799"/>
                <a:gd name="csX5" fmla="*/ 5018048 w 5018048"/>
                <a:gd name="csY5" fmla="*/ 1575420 h 2538799"/>
                <a:gd name="csX0" fmla="*/ 0 w 4937366"/>
                <a:gd name="csY0" fmla="*/ 1222955 h 2538799"/>
                <a:gd name="csX1" fmla="*/ 847492 w 4937366"/>
                <a:gd name="csY1" fmla="*/ 40925 h 2538799"/>
                <a:gd name="csX2" fmla="*/ 2230243 w 4937366"/>
                <a:gd name="csY2" fmla="*/ 2538799 h 2538799"/>
                <a:gd name="csX3" fmla="*/ 3412273 w 4937366"/>
                <a:gd name="csY3" fmla="*/ 40925 h 2538799"/>
                <a:gd name="csX4" fmla="*/ 4438185 w 4937366"/>
                <a:gd name="csY4" fmla="*/ 1445979 h 2538799"/>
                <a:gd name="csX5" fmla="*/ 4937366 w 4937366"/>
                <a:gd name="csY5" fmla="*/ 1638173 h 2538799"/>
                <a:gd name="csX0" fmla="*/ 0 w 4937366"/>
                <a:gd name="csY0" fmla="*/ 1222955 h 2538801"/>
                <a:gd name="csX1" fmla="*/ 847492 w 4937366"/>
                <a:gd name="csY1" fmla="*/ 40925 h 2538801"/>
                <a:gd name="csX2" fmla="*/ 2230243 w 4937366"/>
                <a:gd name="csY2" fmla="*/ 2538799 h 2538801"/>
                <a:gd name="csX3" fmla="*/ 3475026 w 4937366"/>
                <a:gd name="csY3" fmla="*/ 22996 h 2538801"/>
                <a:gd name="csX4" fmla="*/ 4438185 w 4937366"/>
                <a:gd name="csY4" fmla="*/ 1445979 h 2538801"/>
                <a:gd name="csX5" fmla="*/ 4937366 w 4937366"/>
                <a:gd name="csY5" fmla="*/ 1638173 h 2538801"/>
                <a:gd name="csX0" fmla="*/ 0 w 4937366"/>
                <a:gd name="csY0" fmla="*/ 1222955 h 2538801"/>
                <a:gd name="csX1" fmla="*/ 847492 w 4937366"/>
                <a:gd name="csY1" fmla="*/ 40925 h 2538801"/>
                <a:gd name="csX2" fmla="*/ 2230243 w 4937366"/>
                <a:gd name="csY2" fmla="*/ 2538799 h 2538801"/>
                <a:gd name="csX3" fmla="*/ 3475026 w 4937366"/>
                <a:gd name="csY3" fmla="*/ 22996 h 2538801"/>
                <a:gd name="csX4" fmla="*/ 4438185 w 4937366"/>
                <a:gd name="csY4" fmla="*/ 1445979 h 2538801"/>
                <a:gd name="csX5" fmla="*/ 4937366 w 4937366"/>
                <a:gd name="csY5" fmla="*/ 1638173 h 2538801"/>
                <a:gd name="csX0" fmla="*/ 0 w 4937366"/>
                <a:gd name="csY0" fmla="*/ 1225838 h 2541684"/>
                <a:gd name="csX1" fmla="*/ 847492 w 4937366"/>
                <a:gd name="csY1" fmla="*/ 43808 h 2541684"/>
                <a:gd name="csX2" fmla="*/ 2230243 w 4937366"/>
                <a:gd name="csY2" fmla="*/ 2541682 h 2541684"/>
                <a:gd name="csX3" fmla="*/ 3475026 w 4937366"/>
                <a:gd name="csY3" fmla="*/ 25879 h 2541684"/>
                <a:gd name="csX4" fmla="*/ 4258891 w 4937366"/>
                <a:gd name="csY4" fmla="*/ 1251639 h 2541684"/>
                <a:gd name="csX5" fmla="*/ 4937366 w 4937366"/>
                <a:gd name="csY5" fmla="*/ 1641056 h 2541684"/>
                <a:gd name="csX0" fmla="*/ 0 w 4937366"/>
                <a:gd name="csY0" fmla="*/ 1225838 h 2541684"/>
                <a:gd name="csX1" fmla="*/ 847492 w 4937366"/>
                <a:gd name="csY1" fmla="*/ 43808 h 2541684"/>
                <a:gd name="csX2" fmla="*/ 2230243 w 4937366"/>
                <a:gd name="csY2" fmla="*/ 2541682 h 2541684"/>
                <a:gd name="csX3" fmla="*/ 3475026 w 4937366"/>
                <a:gd name="csY3" fmla="*/ 25879 h 2541684"/>
                <a:gd name="csX4" fmla="*/ 4258891 w 4937366"/>
                <a:gd name="csY4" fmla="*/ 1251639 h 2541684"/>
                <a:gd name="csX5" fmla="*/ 4937366 w 4937366"/>
                <a:gd name="csY5" fmla="*/ 1641056 h 2541684"/>
                <a:gd name="csX0" fmla="*/ 0 w 4937366"/>
                <a:gd name="csY0" fmla="*/ 1230088 h 2545934"/>
                <a:gd name="csX1" fmla="*/ 847492 w 4937366"/>
                <a:gd name="csY1" fmla="*/ 48058 h 2545934"/>
                <a:gd name="csX2" fmla="*/ 2230243 w 4937366"/>
                <a:gd name="csY2" fmla="*/ 2545932 h 2545934"/>
                <a:gd name="csX3" fmla="*/ 3475026 w 4937366"/>
                <a:gd name="csY3" fmla="*/ 30129 h 2545934"/>
                <a:gd name="csX4" fmla="*/ 4258891 w 4937366"/>
                <a:gd name="csY4" fmla="*/ 1255889 h 2545934"/>
                <a:gd name="csX5" fmla="*/ 4937366 w 4937366"/>
                <a:gd name="csY5" fmla="*/ 1645306 h 2545934"/>
                <a:gd name="csX0" fmla="*/ 0 w 4937366"/>
                <a:gd name="csY0" fmla="*/ 1230088 h 2545934"/>
                <a:gd name="csX1" fmla="*/ 847492 w 4937366"/>
                <a:gd name="csY1" fmla="*/ 48058 h 2545934"/>
                <a:gd name="csX2" fmla="*/ 2230243 w 4937366"/>
                <a:gd name="csY2" fmla="*/ 2545932 h 2545934"/>
                <a:gd name="csX3" fmla="*/ 3475026 w 4937366"/>
                <a:gd name="csY3" fmla="*/ 30129 h 2545934"/>
                <a:gd name="csX4" fmla="*/ 4258891 w 4937366"/>
                <a:gd name="csY4" fmla="*/ 1255889 h 2545934"/>
                <a:gd name="csX5" fmla="*/ 4937366 w 4937366"/>
                <a:gd name="csY5" fmla="*/ 1645306 h 2545934"/>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60279 w 4937366"/>
                <a:gd name="csY4" fmla="*/ 1247512 h 2546521"/>
                <a:gd name="csX5" fmla="*/ 4937366 w 4937366"/>
                <a:gd name="csY5" fmla="*/ 1645893 h 2546521"/>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60279 w 4937366"/>
                <a:gd name="csY4" fmla="*/ 1247512 h 2546521"/>
                <a:gd name="csX5" fmla="*/ 4937366 w 4937366"/>
                <a:gd name="csY5" fmla="*/ 1645893 h 2546521"/>
                <a:gd name="csX0" fmla="*/ 0 w 4937366"/>
                <a:gd name="csY0" fmla="*/ 1230675 h 2546521"/>
                <a:gd name="csX1" fmla="*/ 847492 w 4937366"/>
                <a:gd name="csY1" fmla="*/ 48645 h 2546521"/>
                <a:gd name="csX2" fmla="*/ 2230243 w 4937366"/>
                <a:gd name="csY2" fmla="*/ 2546519 h 2546521"/>
                <a:gd name="csX3" fmla="*/ 3475026 w 4937366"/>
                <a:gd name="csY3" fmla="*/ 30716 h 2546521"/>
                <a:gd name="csX4" fmla="*/ 4151315 w 4937366"/>
                <a:gd name="csY4" fmla="*/ 1247512 h 2546521"/>
                <a:gd name="csX5" fmla="*/ 4937366 w 4937366"/>
                <a:gd name="csY5" fmla="*/ 1645893 h 2546521"/>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638174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772645 h 2538802"/>
                <a:gd name="csX0" fmla="*/ 0 w 4937366"/>
                <a:gd name="csY0" fmla="*/ 1222956 h 2538802"/>
                <a:gd name="csX1" fmla="*/ 847492 w 4937366"/>
                <a:gd name="csY1" fmla="*/ 40926 h 2538802"/>
                <a:gd name="csX2" fmla="*/ 2230243 w 4937366"/>
                <a:gd name="csY2" fmla="*/ 2538800 h 2538802"/>
                <a:gd name="csX3" fmla="*/ 3475026 w 4937366"/>
                <a:gd name="csY3" fmla="*/ 22997 h 2538802"/>
                <a:gd name="csX4" fmla="*/ 4937366 w 4937366"/>
                <a:gd name="csY4" fmla="*/ 1772645 h 2538802"/>
                <a:gd name="csX0" fmla="*/ 0 w 5191366"/>
                <a:gd name="csY0" fmla="*/ 337443 h 3136465"/>
                <a:gd name="csX1" fmla="*/ 1101492 w 5191366"/>
                <a:gd name="csY1" fmla="*/ 638587 h 3136465"/>
                <a:gd name="csX2" fmla="*/ 2484243 w 5191366"/>
                <a:gd name="csY2" fmla="*/ 3136461 h 3136465"/>
                <a:gd name="csX3" fmla="*/ 3729026 w 5191366"/>
                <a:gd name="csY3" fmla="*/ 620658 h 3136465"/>
                <a:gd name="csX4" fmla="*/ 5191366 w 5191366"/>
                <a:gd name="csY4" fmla="*/ 2370306 h 3136465"/>
                <a:gd name="csX0" fmla="*/ 0 w 5191366"/>
                <a:gd name="csY0" fmla="*/ 29611 h 2828631"/>
                <a:gd name="csX1" fmla="*/ 1101492 w 5191366"/>
                <a:gd name="csY1" fmla="*/ 330755 h 2828631"/>
                <a:gd name="csX2" fmla="*/ 2484243 w 5191366"/>
                <a:gd name="csY2" fmla="*/ 2828629 h 2828631"/>
                <a:gd name="csX3" fmla="*/ 3729026 w 5191366"/>
                <a:gd name="csY3" fmla="*/ 312826 h 2828631"/>
                <a:gd name="csX4" fmla="*/ 5191366 w 5191366"/>
                <a:gd name="csY4" fmla="*/ 2062474 h 2828631"/>
                <a:gd name="csX0" fmla="*/ 0 w 5191366"/>
                <a:gd name="csY0" fmla="*/ 9259 h 2808357"/>
                <a:gd name="csX1" fmla="*/ 1050692 w 5191366"/>
                <a:gd name="csY1" fmla="*/ 380199 h 2808357"/>
                <a:gd name="csX2" fmla="*/ 2484243 w 5191366"/>
                <a:gd name="csY2" fmla="*/ 2808277 h 2808357"/>
                <a:gd name="csX3" fmla="*/ 3729026 w 5191366"/>
                <a:gd name="csY3" fmla="*/ 292474 h 2808357"/>
                <a:gd name="csX4" fmla="*/ 5191366 w 5191366"/>
                <a:gd name="csY4" fmla="*/ 2042122 h 2808357"/>
                <a:gd name="csX0" fmla="*/ 0 w 5191366"/>
                <a:gd name="csY0" fmla="*/ 9259 h 2808317"/>
                <a:gd name="csX1" fmla="*/ 1050692 w 5191366"/>
                <a:gd name="csY1" fmla="*/ 380199 h 2808317"/>
                <a:gd name="csX2" fmla="*/ 2484243 w 5191366"/>
                <a:gd name="csY2" fmla="*/ 2808277 h 2808317"/>
                <a:gd name="csX3" fmla="*/ 3552046 w 5191366"/>
                <a:gd name="csY3" fmla="*/ 317802 h 2808317"/>
                <a:gd name="csX4" fmla="*/ 5191366 w 5191366"/>
                <a:gd name="csY4" fmla="*/ 2042122 h 2808317"/>
                <a:gd name="csX0" fmla="*/ 0 w 5191366"/>
                <a:gd name="csY0" fmla="*/ 54 h 2053440"/>
                <a:gd name="csX1" fmla="*/ 1050692 w 5191366"/>
                <a:gd name="csY1" fmla="*/ 370994 h 2053440"/>
                <a:gd name="csX2" fmla="*/ 2160046 w 5191366"/>
                <a:gd name="csY2" fmla="*/ 1642672 h 2053440"/>
                <a:gd name="csX3" fmla="*/ 3552046 w 5191366"/>
                <a:gd name="csY3" fmla="*/ 308597 h 2053440"/>
                <a:gd name="csX4" fmla="*/ 5191366 w 5191366"/>
                <a:gd name="csY4" fmla="*/ 2032917 h 2053440"/>
                <a:gd name="csX0" fmla="*/ 0 w 5191366"/>
                <a:gd name="csY0" fmla="*/ 292715 h 2341472"/>
                <a:gd name="csX1" fmla="*/ 1050692 w 5191366"/>
                <a:gd name="csY1" fmla="*/ 663655 h 2341472"/>
                <a:gd name="csX2" fmla="*/ 2160046 w 5191366"/>
                <a:gd name="csY2" fmla="*/ 1935333 h 2341472"/>
                <a:gd name="csX3" fmla="*/ 3468918 w 5191366"/>
                <a:gd name="csY3" fmla="*/ 1642 h 2341472"/>
                <a:gd name="csX4" fmla="*/ 5191366 w 5191366"/>
                <a:gd name="csY4" fmla="*/ 2325578 h 2341472"/>
                <a:gd name="csX0" fmla="*/ 0 w 5099926"/>
                <a:gd name="csY0" fmla="*/ 291664 h 1941975"/>
                <a:gd name="csX1" fmla="*/ 1050692 w 5099926"/>
                <a:gd name="csY1" fmla="*/ 662604 h 1941975"/>
                <a:gd name="csX2" fmla="*/ 2160046 w 5099926"/>
                <a:gd name="csY2" fmla="*/ 1934282 h 1941975"/>
                <a:gd name="csX3" fmla="*/ 3468918 w 5099926"/>
                <a:gd name="csY3" fmla="*/ 591 h 1941975"/>
                <a:gd name="csX4" fmla="*/ 5099926 w 5099926"/>
                <a:gd name="csY4" fmla="*/ 1696360 h 1941975"/>
                <a:gd name="csX0" fmla="*/ 0 w 5099926"/>
                <a:gd name="csY0" fmla="*/ 291659 h 1941972"/>
                <a:gd name="csX1" fmla="*/ 1050692 w 5099926"/>
                <a:gd name="csY1" fmla="*/ 662599 h 1941972"/>
                <a:gd name="csX2" fmla="*/ 2160046 w 5099926"/>
                <a:gd name="csY2" fmla="*/ 1934277 h 1941972"/>
                <a:gd name="csX3" fmla="*/ 3468918 w 5099926"/>
                <a:gd name="csY3" fmla="*/ 586 h 1941972"/>
                <a:gd name="csX4" fmla="*/ 5099926 w 5099926"/>
                <a:gd name="csY4" fmla="*/ 1696355 h 1941972"/>
                <a:gd name="csX0" fmla="*/ 0 w 5099926"/>
                <a:gd name="csY0" fmla="*/ 206028 h 1854599"/>
                <a:gd name="csX1" fmla="*/ 1050692 w 5099926"/>
                <a:gd name="csY1" fmla="*/ 576968 h 1854599"/>
                <a:gd name="csX2" fmla="*/ 2160046 w 5099926"/>
                <a:gd name="csY2" fmla="*/ 1848646 h 1854599"/>
                <a:gd name="csX3" fmla="*/ 3319289 w 5099926"/>
                <a:gd name="csY3" fmla="*/ 613 h 1854599"/>
                <a:gd name="csX4" fmla="*/ 5099926 w 5099926"/>
                <a:gd name="csY4" fmla="*/ 1610724 h 1854599"/>
                <a:gd name="csX0" fmla="*/ 0 w 5099926"/>
                <a:gd name="csY0" fmla="*/ 206028 h 1851745"/>
                <a:gd name="csX1" fmla="*/ 1009129 w 5099926"/>
                <a:gd name="csY1" fmla="*/ 434203 h 1851745"/>
                <a:gd name="csX2" fmla="*/ 2160046 w 5099926"/>
                <a:gd name="csY2" fmla="*/ 1848646 h 1851745"/>
                <a:gd name="csX3" fmla="*/ 3319289 w 5099926"/>
                <a:gd name="csY3" fmla="*/ 613 h 1851745"/>
                <a:gd name="csX4" fmla="*/ 5099926 w 5099926"/>
                <a:gd name="csY4" fmla="*/ 1610724 h 1851745"/>
                <a:gd name="csX0" fmla="*/ 0 w 5036864"/>
                <a:gd name="csY0" fmla="*/ 214368 h 1860083"/>
                <a:gd name="csX1" fmla="*/ 1009129 w 5036864"/>
                <a:gd name="csY1" fmla="*/ 442543 h 1860083"/>
                <a:gd name="csX2" fmla="*/ 2160046 w 5036864"/>
                <a:gd name="csY2" fmla="*/ 1856986 h 1860083"/>
                <a:gd name="csX3" fmla="*/ 3319289 w 5036864"/>
                <a:gd name="csY3" fmla="*/ 8953 h 1860083"/>
                <a:gd name="csX4" fmla="*/ 5036864 w 5036864"/>
                <a:gd name="csY4" fmla="*/ 1050464 h 1860083"/>
                <a:gd name="csX0" fmla="*/ 0 w 5099926"/>
                <a:gd name="csY0" fmla="*/ 220443 h 1866159"/>
                <a:gd name="csX1" fmla="*/ 1009129 w 5099926"/>
                <a:gd name="csY1" fmla="*/ 448618 h 1866159"/>
                <a:gd name="csX2" fmla="*/ 2160046 w 5099926"/>
                <a:gd name="csY2" fmla="*/ 1863061 h 1866159"/>
                <a:gd name="csX3" fmla="*/ 3319289 w 5099926"/>
                <a:gd name="csY3" fmla="*/ 15028 h 1866159"/>
                <a:gd name="csX4" fmla="*/ 5099926 w 5099926"/>
                <a:gd name="csY4" fmla="*/ 867004 h 1866159"/>
                <a:gd name="csX0" fmla="*/ 0 w 5099926"/>
                <a:gd name="csY0" fmla="*/ 3992 h 1647075"/>
                <a:gd name="csX1" fmla="*/ 1009129 w 5099926"/>
                <a:gd name="csY1" fmla="*/ 232167 h 1647075"/>
                <a:gd name="csX2" fmla="*/ 2160046 w 5099926"/>
                <a:gd name="csY2" fmla="*/ 1646610 h 1647075"/>
                <a:gd name="csX3" fmla="*/ 3256227 w 5099926"/>
                <a:gd name="csY3" fmla="*/ 69338 h 1647075"/>
                <a:gd name="csX4" fmla="*/ 5099926 w 5099926"/>
                <a:gd name="csY4" fmla="*/ 650553 h 1647075"/>
                <a:gd name="csX0" fmla="*/ 0 w 5099926"/>
                <a:gd name="csY0" fmla="*/ 3992 h 1647075"/>
                <a:gd name="csX1" fmla="*/ 1009129 w 5099926"/>
                <a:gd name="csY1" fmla="*/ 232167 h 1647075"/>
                <a:gd name="csX2" fmla="*/ 2160046 w 5099926"/>
                <a:gd name="csY2" fmla="*/ 1646610 h 1647075"/>
                <a:gd name="csX3" fmla="*/ 3256227 w 5099926"/>
                <a:gd name="csY3" fmla="*/ 69338 h 1647075"/>
                <a:gd name="csX4" fmla="*/ 5099926 w 5099926"/>
                <a:gd name="csY4" fmla="*/ 461019 h 1647075"/>
              </a:gdLst>
              <a:ahLst/>
              <a:cxnLst>
                <a:cxn ang="0">
                  <a:pos x="csX0" y="csY0"/>
                </a:cxn>
                <a:cxn ang="0">
                  <a:pos x="csX1" y="csY1"/>
                </a:cxn>
                <a:cxn ang="0">
                  <a:pos x="csX2" y="csY2"/>
                </a:cxn>
                <a:cxn ang="0">
                  <a:pos x="csX3" y="csY3"/>
                </a:cxn>
                <a:cxn ang="0">
                  <a:pos x="csX4" y="csY4"/>
                </a:cxn>
              </a:cxnLst>
              <a:rect l="l" t="t" r="r" b="b"/>
              <a:pathLst>
                <a:path w="5099926" h="1647075">
                  <a:moveTo>
                    <a:pt x="0" y="3992"/>
                  </a:moveTo>
                  <a:cubicBezTo>
                    <a:pt x="451252" y="1287"/>
                    <a:pt x="649121" y="-41603"/>
                    <a:pt x="1009129" y="232167"/>
                  </a:cubicBezTo>
                  <a:cubicBezTo>
                    <a:pt x="1369137" y="505937"/>
                    <a:pt x="1785530" y="1673748"/>
                    <a:pt x="2160046" y="1646610"/>
                  </a:cubicBezTo>
                  <a:cubicBezTo>
                    <a:pt x="2534562" y="1619472"/>
                    <a:pt x="2766247" y="266937"/>
                    <a:pt x="3256227" y="69338"/>
                  </a:cubicBezTo>
                  <a:cubicBezTo>
                    <a:pt x="3746207" y="-128261"/>
                    <a:pt x="3450241" y="712540"/>
                    <a:pt x="5099926" y="461019"/>
                  </a:cubicBezTo>
                </a:path>
              </a:pathLst>
            </a:custGeom>
            <a:noFill/>
            <a:ln w="190500">
              <a:solidFill>
                <a:srgbClr val="D30F38"/>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5" name="Group 44">
              <a:extLst>
                <a:ext uri="{FF2B5EF4-FFF2-40B4-BE49-F238E27FC236}">
                  <a16:creationId xmlns:a16="http://schemas.microsoft.com/office/drawing/2014/main" id="{1604E939-16AB-34FE-53E4-62D379272F5C}"/>
                </a:ext>
              </a:extLst>
            </p:cNvPr>
            <p:cNvGrpSpPr/>
            <p:nvPr/>
          </p:nvGrpSpPr>
          <p:grpSpPr>
            <a:xfrm>
              <a:off x="1362549" y="264312"/>
              <a:ext cx="2059652" cy="1402101"/>
              <a:chOff x="1362549" y="264312"/>
              <a:chExt cx="2059652" cy="1402101"/>
            </a:xfrm>
          </p:grpSpPr>
          <p:sp>
            <p:nvSpPr>
              <p:cNvPr id="44" name="Rounded Rectangle 43">
                <a:extLst>
                  <a:ext uri="{FF2B5EF4-FFF2-40B4-BE49-F238E27FC236}">
                    <a16:creationId xmlns:a16="http://schemas.microsoft.com/office/drawing/2014/main" id="{07653BC9-5DEA-D67E-FC9B-CA0AF16B6B7A}"/>
                  </a:ext>
                </a:extLst>
              </p:cNvPr>
              <p:cNvSpPr/>
              <p:nvPr/>
            </p:nvSpPr>
            <p:spPr>
              <a:xfrm>
                <a:off x="1362549" y="264312"/>
                <a:ext cx="2059652" cy="1402101"/>
              </a:xfrm>
              <a:prstGeom prst="roundRect">
                <a:avLst>
                  <a:gd name="adj" fmla="val 6413"/>
                </a:avLst>
              </a:prstGeom>
              <a:solidFill>
                <a:srgbClr val="D20F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pPr>
                <a:endParaRPr lang="en-GB" sz="4400" b="1" dirty="0"/>
              </a:p>
            </p:txBody>
          </p:sp>
          <p:grpSp>
            <p:nvGrpSpPr>
              <p:cNvPr id="5138" name="Group 5137">
                <a:extLst>
                  <a:ext uri="{FF2B5EF4-FFF2-40B4-BE49-F238E27FC236}">
                    <a16:creationId xmlns:a16="http://schemas.microsoft.com/office/drawing/2014/main" id="{187F2408-C5AC-2791-9EDB-49FD185E2D6E}"/>
                  </a:ext>
                </a:extLst>
              </p:cNvPr>
              <p:cNvGrpSpPr/>
              <p:nvPr/>
            </p:nvGrpSpPr>
            <p:grpSpPr>
              <a:xfrm>
                <a:off x="1445565" y="644112"/>
                <a:ext cx="1765870" cy="908351"/>
                <a:chOff x="2224478" y="735784"/>
                <a:chExt cx="2154929" cy="1108481"/>
              </a:xfrm>
            </p:grpSpPr>
            <p:grpSp>
              <p:nvGrpSpPr>
                <p:cNvPr id="26" name="Group 25">
                  <a:extLst>
                    <a:ext uri="{FF2B5EF4-FFF2-40B4-BE49-F238E27FC236}">
                      <a16:creationId xmlns:a16="http://schemas.microsoft.com/office/drawing/2014/main" id="{80031CE6-64F9-20A1-905A-705C4549AD9C}"/>
                    </a:ext>
                  </a:extLst>
                </p:cNvPr>
                <p:cNvGrpSpPr/>
                <p:nvPr/>
              </p:nvGrpSpPr>
              <p:grpSpPr>
                <a:xfrm>
                  <a:off x="2383780" y="735789"/>
                  <a:ext cx="1995627" cy="1101226"/>
                  <a:chOff x="1104368" y="3460805"/>
                  <a:chExt cx="1337207" cy="1059944"/>
                </a:xfrm>
              </p:grpSpPr>
              <p:sp>
                <p:nvSpPr>
                  <p:cNvPr id="7" name="Rectangle 6">
                    <a:extLst>
                      <a:ext uri="{FF2B5EF4-FFF2-40B4-BE49-F238E27FC236}">
                        <a16:creationId xmlns:a16="http://schemas.microsoft.com/office/drawing/2014/main" id="{E1E8AFD1-BD48-3AEC-24B8-46A698AB0363}"/>
                      </a:ext>
                    </a:extLst>
                  </p:cNvPr>
                  <p:cNvSpPr/>
                  <p:nvPr/>
                </p:nvSpPr>
                <p:spPr>
                  <a:xfrm>
                    <a:off x="1104368" y="3460805"/>
                    <a:ext cx="1334925"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9AD80083-C905-D286-7745-12A8D334D6EA}"/>
                      </a:ext>
                    </a:extLst>
                  </p:cNvPr>
                  <p:cNvSpPr/>
                  <p:nvPr/>
                </p:nvSpPr>
                <p:spPr>
                  <a:xfrm>
                    <a:off x="1104368" y="3622052"/>
                    <a:ext cx="1226975"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D5005ADC-E3F8-4AF0-F062-A39C2F31964F}"/>
                      </a:ext>
                    </a:extLst>
                  </p:cNvPr>
                  <p:cNvSpPr/>
                  <p:nvPr/>
                </p:nvSpPr>
                <p:spPr>
                  <a:xfrm>
                    <a:off x="1104368" y="3783299"/>
                    <a:ext cx="1300000"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C1470D6A-73CE-833E-6BA4-EB5CCEC07223}"/>
                      </a:ext>
                    </a:extLst>
                  </p:cNvPr>
                  <p:cNvSpPr/>
                  <p:nvPr/>
                </p:nvSpPr>
                <p:spPr>
                  <a:xfrm>
                    <a:off x="1106650" y="3958424"/>
                    <a:ext cx="1036474"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9C8260D5-9ED1-9007-E940-F9766A7B1CB5}"/>
                      </a:ext>
                    </a:extLst>
                  </p:cNvPr>
                  <p:cNvSpPr/>
                  <p:nvPr/>
                </p:nvSpPr>
                <p:spPr>
                  <a:xfrm>
                    <a:off x="1106650" y="4119671"/>
                    <a:ext cx="1300000"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9FE422C7-7925-4AC3-E52A-4F2D91A08B2F}"/>
                      </a:ext>
                    </a:extLst>
                  </p:cNvPr>
                  <p:cNvSpPr/>
                  <p:nvPr/>
                </p:nvSpPr>
                <p:spPr>
                  <a:xfrm>
                    <a:off x="1106650" y="4280918"/>
                    <a:ext cx="1087276"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C615356B-2FC7-ACBE-7396-C4D57B6745C0}"/>
                      </a:ext>
                    </a:extLst>
                  </p:cNvPr>
                  <p:cNvSpPr/>
                  <p:nvPr/>
                </p:nvSpPr>
                <p:spPr>
                  <a:xfrm>
                    <a:off x="1106649" y="4442165"/>
                    <a:ext cx="1334926" cy="785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9" name="Oval 48">
                  <a:extLst>
                    <a:ext uri="{FF2B5EF4-FFF2-40B4-BE49-F238E27FC236}">
                      <a16:creationId xmlns:a16="http://schemas.microsoft.com/office/drawing/2014/main" id="{9514DEF7-B6F1-D43F-CA1D-E3B0CA86ABBA}"/>
                    </a:ext>
                  </a:extLst>
                </p:cNvPr>
                <p:cNvSpPr/>
                <p:nvPr/>
              </p:nvSpPr>
              <p:spPr>
                <a:xfrm>
                  <a:off x="2227885" y="1252784"/>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Oval 61">
                  <a:extLst>
                    <a:ext uri="{FF2B5EF4-FFF2-40B4-BE49-F238E27FC236}">
                      <a16:creationId xmlns:a16="http://schemas.microsoft.com/office/drawing/2014/main" id="{5BED6CD3-59F7-8443-3ADC-C856DA10DA3D}"/>
                    </a:ext>
                  </a:extLst>
                </p:cNvPr>
                <p:cNvSpPr/>
                <p:nvPr/>
              </p:nvSpPr>
              <p:spPr>
                <a:xfrm>
                  <a:off x="2227885" y="1423939"/>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Oval 62">
                  <a:extLst>
                    <a:ext uri="{FF2B5EF4-FFF2-40B4-BE49-F238E27FC236}">
                      <a16:creationId xmlns:a16="http://schemas.microsoft.com/office/drawing/2014/main" id="{9361BD4B-B281-2B0C-F3C6-4282DBA06470}"/>
                    </a:ext>
                  </a:extLst>
                </p:cNvPr>
                <p:cNvSpPr/>
                <p:nvPr/>
              </p:nvSpPr>
              <p:spPr>
                <a:xfrm>
                  <a:off x="2227885" y="1591466"/>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20" name="Oval 5119">
                  <a:extLst>
                    <a:ext uri="{FF2B5EF4-FFF2-40B4-BE49-F238E27FC236}">
                      <a16:creationId xmlns:a16="http://schemas.microsoft.com/office/drawing/2014/main" id="{5864D6A8-C72D-7277-717E-224DF3944121}"/>
                    </a:ext>
                  </a:extLst>
                </p:cNvPr>
                <p:cNvSpPr/>
                <p:nvPr/>
              </p:nvSpPr>
              <p:spPr>
                <a:xfrm>
                  <a:off x="2227885" y="1755365"/>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24" name="Oval 5123">
                  <a:extLst>
                    <a:ext uri="{FF2B5EF4-FFF2-40B4-BE49-F238E27FC236}">
                      <a16:creationId xmlns:a16="http://schemas.microsoft.com/office/drawing/2014/main" id="{CF860D96-40CB-EEEB-B323-CD8FFE928D7C}"/>
                    </a:ext>
                  </a:extLst>
                </p:cNvPr>
                <p:cNvSpPr/>
                <p:nvPr/>
              </p:nvSpPr>
              <p:spPr>
                <a:xfrm>
                  <a:off x="2224478" y="1070838"/>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29" name="Oval 5128">
                  <a:extLst>
                    <a:ext uri="{FF2B5EF4-FFF2-40B4-BE49-F238E27FC236}">
                      <a16:creationId xmlns:a16="http://schemas.microsoft.com/office/drawing/2014/main" id="{8ED40EB0-9821-0A4E-9673-7EB7E9A04E22}"/>
                    </a:ext>
                  </a:extLst>
                </p:cNvPr>
                <p:cNvSpPr/>
                <p:nvPr/>
              </p:nvSpPr>
              <p:spPr>
                <a:xfrm>
                  <a:off x="2224478" y="906884"/>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31" name="Oval 5130">
                  <a:extLst>
                    <a:ext uri="{FF2B5EF4-FFF2-40B4-BE49-F238E27FC236}">
                      <a16:creationId xmlns:a16="http://schemas.microsoft.com/office/drawing/2014/main" id="{ADC17B38-4657-7800-03A5-68DBBC59C0E2}"/>
                    </a:ext>
                  </a:extLst>
                </p:cNvPr>
                <p:cNvSpPr/>
                <p:nvPr/>
              </p:nvSpPr>
              <p:spPr>
                <a:xfrm>
                  <a:off x="2224478" y="735784"/>
                  <a:ext cx="88900" cy="889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3" name="TextBox 22">
                <a:extLst>
                  <a:ext uri="{FF2B5EF4-FFF2-40B4-BE49-F238E27FC236}">
                    <a16:creationId xmlns:a16="http://schemas.microsoft.com/office/drawing/2014/main" id="{9BF8F818-ACB2-D254-6723-5A4007C37461}"/>
                  </a:ext>
                </a:extLst>
              </p:cNvPr>
              <p:cNvSpPr txBox="1"/>
              <p:nvPr/>
            </p:nvSpPr>
            <p:spPr>
              <a:xfrm>
                <a:off x="1365340" y="283038"/>
                <a:ext cx="1893467" cy="400110"/>
              </a:xfrm>
              <a:prstGeom prst="rect">
                <a:avLst/>
              </a:prstGeom>
              <a:noFill/>
            </p:spPr>
            <p:txBody>
              <a:bodyPr wrap="none" rtlCol="0">
                <a:spAutoFit/>
              </a:bodyPr>
              <a:lstStyle/>
              <a:p>
                <a:r>
                  <a:rPr lang="en-GB" sz="2000" b="1" dirty="0">
                    <a:solidFill>
                      <a:schemeClr val="bg1"/>
                    </a:solidFill>
                    <a:latin typeface="+mj-lt"/>
                  </a:rPr>
                  <a:t>READING TEXT</a:t>
                </a:r>
              </a:p>
            </p:txBody>
          </p:sp>
        </p:grpSp>
      </p:grpSp>
      <p:sp>
        <p:nvSpPr>
          <p:cNvPr id="24" name="Oval 23">
            <a:extLst>
              <a:ext uri="{FF2B5EF4-FFF2-40B4-BE49-F238E27FC236}">
                <a16:creationId xmlns:a16="http://schemas.microsoft.com/office/drawing/2014/main" id="{8D9DAA81-1A40-71E0-803F-C1B61F37DEE7}"/>
              </a:ext>
            </a:extLst>
          </p:cNvPr>
          <p:cNvSpPr/>
          <p:nvPr/>
        </p:nvSpPr>
        <p:spPr>
          <a:xfrm>
            <a:off x="5876694" y="1064184"/>
            <a:ext cx="332488" cy="977734"/>
          </a:xfrm>
          <a:prstGeom prst="ellipse">
            <a:avLst/>
          </a:prstGeom>
          <a:noFill/>
          <a:ln w="31750">
            <a:solidFill>
              <a:schemeClr val="tx1">
                <a:lumMod val="65000"/>
                <a:lumOff val="3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80B68EFF-161D-6D10-9698-391E1E77D771}"/>
              </a:ext>
            </a:extLst>
          </p:cNvPr>
          <p:cNvSpPr/>
          <p:nvPr/>
        </p:nvSpPr>
        <p:spPr>
          <a:xfrm rot="2691495">
            <a:off x="6134492" y="1597417"/>
            <a:ext cx="111192" cy="117475"/>
          </a:xfrm>
          <a:prstGeom prst="rect">
            <a:avLst/>
          </a:prstGeom>
          <a:solidFill>
            <a:srgbClr val="7A71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250E4E86-7060-C124-3F92-311D1153CEA2}"/>
              </a:ext>
            </a:extLst>
          </p:cNvPr>
          <p:cNvSpPr/>
          <p:nvPr/>
        </p:nvSpPr>
        <p:spPr>
          <a:xfrm rot="2691495">
            <a:off x="6140908" y="1783681"/>
            <a:ext cx="111192" cy="45719"/>
          </a:xfrm>
          <a:prstGeom prst="rect">
            <a:avLst/>
          </a:prstGeom>
          <a:solidFill>
            <a:srgbClr val="7C72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AF74829C-4639-4EC9-1B1C-83422FB319B8}"/>
              </a:ext>
            </a:extLst>
          </p:cNvPr>
          <p:cNvSpPr/>
          <p:nvPr/>
        </p:nvSpPr>
        <p:spPr>
          <a:xfrm>
            <a:off x="5763512" y="3963850"/>
            <a:ext cx="332488" cy="977734"/>
          </a:xfrm>
          <a:prstGeom prst="ellipse">
            <a:avLst/>
          </a:prstGeom>
          <a:noFill/>
          <a:ln w="31750">
            <a:solidFill>
              <a:schemeClr val="tx1">
                <a:lumMod val="65000"/>
                <a:lumOff val="3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727F950D-1C92-543E-263E-A3D76B6DF16C}"/>
              </a:ext>
            </a:extLst>
          </p:cNvPr>
          <p:cNvSpPr/>
          <p:nvPr/>
        </p:nvSpPr>
        <p:spPr>
          <a:xfrm>
            <a:off x="6068212" y="4359274"/>
            <a:ext cx="46838" cy="184152"/>
          </a:xfrm>
          <a:prstGeom prst="rect">
            <a:avLst/>
          </a:prstGeom>
          <a:solidFill>
            <a:srgbClr val="40A0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1B27BFB9-6A2E-0363-181E-69156829954C}"/>
              </a:ext>
            </a:extLst>
          </p:cNvPr>
          <p:cNvSpPr/>
          <p:nvPr/>
        </p:nvSpPr>
        <p:spPr>
          <a:xfrm rot="18572164">
            <a:off x="6121013" y="1362310"/>
            <a:ext cx="134735" cy="107075"/>
          </a:xfrm>
          <a:prstGeom prst="rect">
            <a:avLst/>
          </a:prstGeom>
          <a:solidFill>
            <a:srgbClr val="D30F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B7174233-38B4-F80B-0938-93A1B6553F82}"/>
              </a:ext>
            </a:extLst>
          </p:cNvPr>
          <p:cNvSpPr/>
          <p:nvPr/>
        </p:nvSpPr>
        <p:spPr>
          <a:xfrm rot="18515818">
            <a:off x="6157772" y="1230392"/>
            <a:ext cx="56935" cy="45719"/>
          </a:xfrm>
          <a:prstGeom prst="rect">
            <a:avLst/>
          </a:prstGeom>
          <a:solidFill>
            <a:srgbClr val="D30F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Arrow Connector 12">
            <a:extLst>
              <a:ext uri="{FF2B5EF4-FFF2-40B4-BE49-F238E27FC236}">
                <a16:creationId xmlns:a16="http://schemas.microsoft.com/office/drawing/2014/main" id="{5F501602-37EF-70E0-F8F1-45BB766922C2}"/>
              </a:ext>
            </a:extLst>
          </p:cNvPr>
          <p:cNvCxnSpPr>
            <a:cxnSpLocks/>
          </p:cNvCxnSpPr>
          <p:nvPr/>
        </p:nvCxnSpPr>
        <p:spPr>
          <a:xfrm>
            <a:off x="3325072" y="5914251"/>
            <a:ext cx="5089168" cy="0"/>
          </a:xfrm>
          <a:prstGeom prst="straightConnector1">
            <a:avLst/>
          </a:prstGeom>
          <a:ln w="190500">
            <a:gradFill>
              <a:gsLst>
                <a:gs pos="0">
                  <a:srgbClr val="453C6C"/>
                </a:gs>
                <a:gs pos="100000">
                  <a:srgbClr val="9288CE"/>
                </a:gs>
              </a:gsLst>
              <a:lin ang="0" scaled="0"/>
            </a:gra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a:extLst>
              <a:ext uri="{FF2B5EF4-FFF2-40B4-BE49-F238E27FC236}">
                <a16:creationId xmlns:a16="http://schemas.microsoft.com/office/drawing/2014/main" id="{AE4E6EC0-B9BE-387B-8407-1702E1ADAD7D}"/>
              </a:ext>
            </a:extLst>
          </p:cNvPr>
          <p:cNvSpPr/>
          <p:nvPr/>
        </p:nvSpPr>
        <p:spPr>
          <a:xfrm>
            <a:off x="1385487" y="5218869"/>
            <a:ext cx="2059652" cy="1402101"/>
          </a:xfrm>
          <a:prstGeom prst="roundRect">
            <a:avLst>
              <a:gd name="adj" fmla="val 6413"/>
            </a:avLst>
          </a:prstGeom>
          <a:solidFill>
            <a:srgbClr val="453D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pPr>
            <a:r>
              <a:rPr lang="en-GB" sz="4400" b="1" dirty="0">
                <a:latin typeface="+mj-lt"/>
              </a:rPr>
              <a:t>Your Voice</a:t>
            </a:r>
          </a:p>
        </p:txBody>
      </p:sp>
      <p:sp>
        <p:nvSpPr>
          <p:cNvPr id="43" name="Rounded Rectangle 42">
            <a:extLst>
              <a:ext uri="{FF2B5EF4-FFF2-40B4-BE49-F238E27FC236}">
                <a16:creationId xmlns:a16="http://schemas.microsoft.com/office/drawing/2014/main" id="{A8CC2165-4CC7-C951-A4F2-92554B81118E}"/>
              </a:ext>
            </a:extLst>
          </p:cNvPr>
          <p:cNvSpPr/>
          <p:nvPr/>
        </p:nvSpPr>
        <p:spPr>
          <a:xfrm>
            <a:off x="1377432" y="1769741"/>
            <a:ext cx="2059652" cy="1402101"/>
          </a:xfrm>
          <a:prstGeom prst="roundRect">
            <a:avLst>
              <a:gd name="adj" fmla="val 6413"/>
            </a:avLst>
          </a:prstGeom>
          <a:solidFill>
            <a:srgbClr val="453D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pPr>
            <a:r>
              <a:rPr lang="en-GB" sz="4400" b="1" dirty="0">
                <a:latin typeface="+mj-lt"/>
              </a:rPr>
              <a:t>Your Voice</a:t>
            </a:r>
          </a:p>
        </p:txBody>
      </p:sp>
      <p:sp>
        <p:nvSpPr>
          <p:cNvPr id="37" name="Oval 36">
            <a:extLst>
              <a:ext uri="{FF2B5EF4-FFF2-40B4-BE49-F238E27FC236}">
                <a16:creationId xmlns:a16="http://schemas.microsoft.com/office/drawing/2014/main" id="{0845DA11-BC5A-F358-D180-B0CB9DC8DACB}"/>
              </a:ext>
            </a:extLst>
          </p:cNvPr>
          <p:cNvSpPr/>
          <p:nvPr/>
        </p:nvSpPr>
        <p:spPr>
          <a:xfrm>
            <a:off x="5759143" y="5431052"/>
            <a:ext cx="332488" cy="977734"/>
          </a:xfrm>
          <a:prstGeom prst="ellipse">
            <a:avLst/>
          </a:prstGeom>
          <a:noFill/>
          <a:ln w="31750">
            <a:solidFill>
              <a:schemeClr val="tx1">
                <a:lumMod val="65000"/>
                <a:lumOff val="3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FC2F6FBD-917C-98F4-16DC-9EBD3F9715F7}"/>
              </a:ext>
            </a:extLst>
          </p:cNvPr>
          <p:cNvSpPr/>
          <p:nvPr/>
        </p:nvSpPr>
        <p:spPr>
          <a:xfrm>
            <a:off x="6074188" y="5820975"/>
            <a:ext cx="46838" cy="184152"/>
          </a:xfrm>
          <a:prstGeom prst="rect">
            <a:avLst/>
          </a:prstGeom>
          <a:solidFill>
            <a:srgbClr val="7D73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3217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descr="Decreasing size of text.">
            <a:extLst>
              <a:ext uri="{FF2B5EF4-FFF2-40B4-BE49-F238E27FC236}">
                <a16:creationId xmlns:a16="http://schemas.microsoft.com/office/drawing/2014/main" id="{A15DF3B9-68F2-C52B-CB0A-381AC089A94C}"/>
              </a:ext>
            </a:extLst>
          </p:cNvPr>
          <p:cNvSpPr txBox="1"/>
          <p:nvPr/>
        </p:nvSpPr>
        <p:spPr>
          <a:xfrm>
            <a:off x="161365" y="98972"/>
            <a:ext cx="5360635" cy="3785652"/>
          </a:xfrm>
          <a:prstGeom prst="rect">
            <a:avLst/>
          </a:prstGeom>
          <a:noFill/>
        </p:spPr>
        <p:txBody>
          <a:bodyPr wrap="none" rtlCol="0">
            <a:spAutoFit/>
          </a:bodyPr>
          <a:lstStyle/>
          <a:p>
            <a:r>
              <a:rPr lang="en-GB" sz="4000" dirty="0"/>
              <a:t>Size is important (40 pt)</a:t>
            </a:r>
          </a:p>
          <a:p>
            <a:r>
              <a:rPr lang="en-GB" sz="3600" dirty="0"/>
              <a:t>Size is important (36 pt)</a:t>
            </a:r>
          </a:p>
          <a:p>
            <a:r>
              <a:rPr lang="en-GB" sz="3200" dirty="0"/>
              <a:t>Size is important (32 pt)</a:t>
            </a:r>
          </a:p>
          <a:p>
            <a:r>
              <a:rPr lang="en-GB" sz="2800" dirty="0"/>
              <a:t>Size is important (28 pt)</a:t>
            </a:r>
          </a:p>
          <a:p>
            <a:r>
              <a:rPr lang="en-GB" sz="2400" dirty="0"/>
              <a:t>Size is important (24 pt)</a:t>
            </a:r>
          </a:p>
          <a:p>
            <a:r>
              <a:rPr lang="en-GB" sz="2000" dirty="0"/>
              <a:t>Size is important (20 pt)</a:t>
            </a:r>
          </a:p>
          <a:p>
            <a:r>
              <a:rPr lang="en-GB" dirty="0"/>
              <a:t>Size is important (18 pt)</a:t>
            </a:r>
          </a:p>
          <a:p>
            <a:r>
              <a:rPr lang="en-GB" sz="1600" dirty="0"/>
              <a:t>Size is important (16 pt)</a:t>
            </a:r>
          </a:p>
          <a:p>
            <a:r>
              <a:rPr lang="en-GB" sz="1400" dirty="0"/>
              <a:t>Size is important (14 pt)</a:t>
            </a:r>
          </a:p>
          <a:p>
            <a:r>
              <a:rPr lang="en-GB" sz="1200" dirty="0"/>
              <a:t>Size is important (12 pt)</a:t>
            </a:r>
          </a:p>
        </p:txBody>
      </p:sp>
      <p:grpSp>
        <p:nvGrpSpPr>
          <p:cNvPr id="13" name="Group 12">
            <a:extLst>
              <a:ext uri="{FF2B5EF4-FFF2-40B4-BE49-F238E27FC236}">
                <a16:creationId xmlns:a16="http://schemas.microsoft.com/office/drawing/2014/main" id="{E60FD529-5CE2-F576-D416-FC9B43A66890}"/>
              </a:ext>
            </a:extLst>
          </p:cNvPr>
          <p:cNvGrpSpPr/>
          <p:nvPr/>
        </p:nvGrpSpPr>
        <p:grpSpPr>
          <a:xfrm>
            <a:off x="0" y="4857768"/>
            <a:ext cx="12209928" cy="2020585"/>
            <a:chOff x="0" y="4857768"/>
            <a:chExt cx="12209928" cy="2020585"/>
          </a:xfrm>
        </p:grpSpPr>
        <p:cxnSp>
          <p:nvCxnSpPr>
            <p:cNvPr id="10" name="Straight Connector 9" descr="Horizontal line showing the ‘dead zone’ that the silhouettes obscure.">
              <a:extLst>
                <a:ext uri="{FF2B5EF4-FFF2-40B4-BE49-F238E27FC236}">
                  <a16:creationId xmlns:a16="http://schemas.microsoft.com/office/drawing/2014/main" id="{BE83FEB1-E498-177B-BFE2-6A42ED3E21F6}"/>
                </a:ext>
              </a:extLst>
            </p:cNvPr>
            <p:cNvCxnSpPr>
              <a:cxnSpLocks/>
            </p:cNvCxnSpPr>
            <p:nvPr/>
          </p:nvCxnSpPr>
          <p:spPr>
            <a:xfrm>
              <a:off x="0" y="5689647"/>
              <a:ext cx="12192000" cy="0"/>
            </a:xfrm>
            <a:prstGeom prst="line">
              <a:avLst/>
            </a:prstGeom>
            <a:ln w="63500" cap="rnd">
              <a:solidFill>
                <a:srgbClr val="FF0000"/>
              </a:solidFill>
              <a:prstDash val="dash"/>
            </a:ln>
          </p:spPr>
          <p:style>
            <a:lnRef idx="2">
              <a:schemeClr val="accent1"/>
            </a:lnRef>
            <a:fillRef idx="0">
              <a:schemeClr val="accent1"/>
            </a:fillRef>
            <a:effectRef idx="1">
              <a:schemeClr val="accent1"/>
            </a:effectRef>
            <a:fontRef idx="minor">
              <a:schemeClr val="tx1"/>
            </a:fontRef>
          </p:style>
        </p:cxnSp>
        <p:grpSp>
          <p:nvGrpSpPr>
            <p:cNvPr id="30" name="Group 29" descr="Silhoutte of people obscuring lower part of screen to illustrate the ‘dead zone’ for content.">
              <a:extLst>
                <a:ext uri="{FF2B5EF4-FFF2-40B4-BE49-F238E27FC236}">
                  <a16:creationId xmlns:a16="http://schemas.microsoft.com/office/drawing/2014/main" id="{ECCA2EA8-6949-66F0-1ABA-C7CD31057EAD}"/>
                </a:ext>
              </a:extLst>
            </p:cNvPr>
            <p:cNvGrpSpPr/>
            <p:nvPr/>
          </p:nvGrpSpPr>
          <p:grpSpPr>
            <a:xfrm>
              <a:off x="6095999" y="4857768"/>
              <a:ext cx="6113929" cy="2020585"/>
              <a:chOff x="-208043" y="2795921"/>
              <a:chExt cx="12417972" cy="4104000"/>
            </a:xfrm>
          </p:grpSpPr>
          <p:pic>
            <p:nvPicPr>
              <p:cNvPr id="1038" name="Picture 14">
                <a:extLst>
                  <a:ext uri="{FF2B5EF4-FFF2-40B4-BE49-F238E27FC236}">
                    <a16:creationId xmlns:a16="http://schemas.microsoft.com/office/drawing/2014/main" id="{8D861AC1-3E5E-A9AF-AB2F-80E9E6748D7A}"/>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b="20566"/>
              <a:stretch>
                <a:fillRect/>
              </a:stretch>
            </p:blipFill>
            <p:spPr bwMode="auto">
              <a:xfrm>
                <a:off x="-208043" y="3263921"/>
                <a:ext cx="3926802" cy="36360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4">
                <a:extLst>
                  <a:ext uri="{FF2B5EF4-FFF2-40B4-BE49-F238E27FC236}">
                    <a16:creationId xmlns:a16="http://schemas.microsoft.com/office/drawing/2014/main" id="{FC5B7DC6-64B5-4643-9865-6E498A6C1695}"/>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b="14275"/>
              <a:stretch>
                <a:fillRect/>
              </a:stretch>
            </p:blipFill>
            <p:spPr bwMode="auto">
              <a:xfrm>
                <a:off x="2743200" y="2975921"/>
                <a:ext cx="3926802" cy="39240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4">
                <a:extLst>
                  <a:ext uri="{FF2B5EF4-FFF2-40B4-BE49-F238E27FC236}">
                    <a16:creationId xmlns:a16="http://schemas.microsoft.com/office/drawing/2014/main" id="{83347405-9F36-C99B-9197-B8BD5414B7ED}"/>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b="11247"/>
              <a:stretch>
                <a:fillRect/>
              </a:stretch>
            </p:blipFill>
            <p:spPr bwMode="auto">
              <a:xfrm>
                <a:off x="6300594" y="3263921"/>
                <a:ext cx="3514442" cy="3636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4">
                <a:extLst>
                  <a:ext uri="{FF2B5EF4-FFF2-40B4-BE49-F238E27FC236}">
                    <a16:creationId xmlns:a16="http://schemas.microsoft.com/office/drawing/2014/main" id="{5630D720-D8B0-2A89-8C55-C3255362C187}"/>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r="9238" b="10343"/>
              <a:stretch>
                <a:fillRect/>
              </a:stretch>
            </p:blipFill>
            <p:spPr bwMode="auto">
              <a:xfrm>
                <a:off x="8645929" y="2795921"/>
                <a:ext cx="3564000" cy="410400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2" name="Picture 21" descr="Ishihara plate for colour blindness (orange 45 on green background)">
            <a:extLst>
              <a:ext uri="{FF2B5EF4-FFF2-40B4-BE49-F238E27FC236}">
                <a16:creationId xmlns:a16="http://schemas.microsoft.com/office/drawing/2014/main" id="{71C1CC25-288D-6557-E29D-9100AC3A5CCE}"/>
              </a:ext>
            </a:extLst>
          </p:cNvPr>
          <p:cNvPicPr>
            <a:picLocks noChangeAspect="1"/>
          </p:cNvPicPr>
          <p:nvPr/>
        </p:nvPicPr>
        <p:blipFill>
          <a:blip r:embed="rId4"/>
          <a:stretch>
            <a:fillRect/>
          </a:stretch>
        </p:blipFill>
        <p:spPr>
          <a:xfrm>
            <a:off x="2336940" y="2780004"/>
            <a:ext cx="3671480" cy="3630458"/>
          </a:xfrm>
          <a:prstGeom prst="rect">
            <a:avLst/>
          </a:prstGeom>
        </p:spPr>
      </p:pic>
      <p:sp>
        <p:nvSpPr>
          <p:cNvPr id="17" name="Rounded Rectangle 16">
            <a:extLst>
              <a:ext uri="{FF2B5EF4-FFF2-40B4-BE49-F238E27FC236}">
                <a16:creationId xmlns:a16="http://schemas.microsoft.com/office/drawing/2014/main" id="{168495E7-4637-6300-A23A-7B54FA6BC9A3}"/>
              </a:ext>
            </a:extLst>
          </p:cNvPr>
          <p:cNvSpPr/>
          <p:nvPr/>
        </p:nvSpPr>
        <p:spPr>
          <a:xfrm>
            <a:off x="6221186" y="152764"/>
            <a:ext cx="5809449" cy="824067"/>
          </a:xfrm>
          <a:prstGeom prst="roundRect">
            <a:avLst>
              <a:gd name="adj" fmla="val 963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06B050"/>
                </a:solidFill>
                <a:latin typeface="+mj-lt"/>
              </a:rPr>
              <a:t>Hard to Read</a:t>
            </a:r>
          </a:p>
        </p:txBody>
      </p:sp>
      <p:sp>
        <p:nvSpPr>
          <p:cNvPr id="19" name="Rounded Rectangle 18">
            <a:extLst>
              <a:ext uri="{FF2B5EF4-FFF2-40B4-BE49-F238E27FC236}">
                <a16:creationId xmlns:a16="http://schemas.microsoft.com/office/drawing/2014/main" id="{29AA8C79-60B3-A4E7-F18D-E7D7D7F03051}"/>
              </a:ext>
            </a:extLst>
          </p:cNvPr>
          <p:cNvSpPr/>
          <p:nvPr/>
        </p:nvSpPr>
        <p:spPr>
          <a:xfrm>
            <a:off x="6221186" y="1049717"/>
            <a:ext cx="5809449" cy="824067"/>
          </a:xfrm>
          <a:prstGeom prst="roundRect">
            <a:avLst>
              <a:gd name="adj" fmla="val 9636"/>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D30CAF"/>
                </a:solidFill>
                <a:latin typeface="+mj-lt"/>
              </a:rPr>
              <a:t>Hard to Read</a:t>
            </a:r>
          </a:p>
        </p:txBody>
      </p:sp>
      <p:sp>
        <p:nvSpPr>
          <p:cNvPr id="21" name="Rounded Rectangle 20">
            <a:extLst>
              <a:ext uri="{FF2B5EF4-FFF2-40B4-BE49-F238E27FC236}">
                <a16:creationId xmlns:a16="http://schemas.microsoft.com/office/drawing/2014/main" id="{769ADEF9-88A1-2D4C-5A46-0BBB0511EEEB}"/>
              </a:ext>
            </a:extLst>
          </p:cNvPr>
          <p:cNvSpPr/>
          <p:nvPr/>
        </p:nvSpPr>
        <p:spPr>
          <a:xfrm>
            <a:off x="6221185" y="1946670"/>
            <a:ext cx="5809449" cy="824067"/>
          </a:xfrm>
          <a:prstGeom prst="roundRect">
            <a:avLst>
              <a:gd name="adj" fmla="val 9636"/>
            </a:avLst>
          </a:prstGeom>
          <a:solidFill>
            <a:srgbClr val="7F98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rgbClr val="FF0000"/>
                </a:solidFill>
                <a:latin typeface="+mj-lt"/>
              </a:rPr>
              <a:t>Hard to Read</a:t>
            </a:r>
          </a:p>
        </p:txBody>
      </p:sp>
      <p:sp>
        <p:nvSpPr>
          <p:cNvPr id="23" name="Rounded Rectangle 22">
            <a:extLst>
              <a:ext uri="{FF2B5EF4-FFF2-40B4-BE49-F238E27FC236}">
                <a16:creationId xmlns:a16="http://schemas.microsoft.com/office/drawing/2014/main" id="{75E69000-C0CC-7845-4FEC-542744C7D8A1}"/>
              </a:ext>
            </a:extLst>
          </p:cNvPr>
          <p:cNvSpPr/>
          <p:nvPr/>
        </p:nvSpPr>
        <p:spPr>
          <a:xfrm>
            <a:off x="6221185" y="2838534"/>
            <a:ext cx="5809449" cy="824067"/>
          </a:xfrm>
          <a:prstGeom prst="roundRect">
            <a:avLst>
              <a:gd name="adj" fmla="val 9636"/>
            </a:avLst>
          </a:prstGeom>
          <a:gradFill>
            <a:gsLst>
              <a:gs pos="0">
                <a:schemeClr val="bg1"/>
              </a:gs>
              <a:gs pos="100000">
                <a:schemeClr val="tx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solidFill>
                  <a:schemeClr val="bg1"/>
                </a:solidFill>
                <a:latin typeface="+mj-lt"/>
              </a:rPr>
              <a:t>0 1 2 3 4 5 6 7 8 9</a:t>
            </a:r>
          </a:p>
        </p:txBody>
      </p:sp>
    </p:spTree>
    <p:extLst>
      <p:ext uri="{BB962C8B-B14F-4D97-AF65-F5344CB8AC3E}">
        <p14:creationId xmlns:p14="http://schemas.microsoft.com/office/powerpoint/2010/main" val="3223084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8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10" presetClass="entr" presetSubtype="0" fill="hold" grpId="0" nodeType="withEffect">
                                  <p:stCondLst>
                                    <p:cond delay="40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80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19" grpId="0" animBg="1"/>
      <p:bldP spid="21"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20FEA2-8F92-E04F-B516-71A56186737C}"/>
              </a:ext>
            </a:extLst>
          </p:cNvPr>
          <p:cNvGrpSpPr/>
          <p:nvPr/>
        </p:nvGrpSpPr>
        <p:grpSpPr>
          <a:xfrm>
            <a:off x="2462646" y="706581"/>
            <a:ext cx="7266708" cy="5444837"/>
            <a:chOff x="2462646" y="706581"/>
            <a:chExt cx="7266708" cy="5444837"/>
          </a:xfrm>
        </p:grpSpPr>
        <p:grpSp>
          <p:nvGrpSpPr>
            <p:cNvPr id="5" name="Group 4" descr="Cat laying on a comfort blanket.">
              <a:extLst>
                <a:ext uri="{FF2B5EF4-FFF2-40B4-BE49-F238E27FC236}">
                  <a16:creationId xmlns:a16="http://schemas.microsoft.com/office/drawing/2014/main" id="{B581315F-AA80-DC0C-E069-7FEF2B9612D3}"/>
                </a:ext>
              </a:extLst>
            </p:cNvPr>
            <p:cNvGrpSpPr/>
            <p:nvPr/>
          </p:nvGrpSpPr>
          <p:grpSpPr>
            <a:xfrm>
              <a:off x="2462646" y="706581"/>
              <a:ext cx="7266708" cy="5444837"/>
              <a:chOff x="2462646" y="706581"/>
              <a:chExt cx="7266708" cy="5444837"/>
            </a:xfrm>
          </p:grpSpPr>
          <p:pic>
            <p:nvPicPr>
              <p:cNvPr id="1026" name="Picture 2" descr="It's my blanket!">
                <a:extLst>
                  <a:ext uri="{FF2B5EF4-FFF2-40B4-BE49-F238E27FC236}">
                    <a16:creationId xmlns:a16="http://schemas.microsoft.com/office/drawing/2014/main" id="{45459712-7A0D-BA92-438E-10ECCF448D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0" y="1047750"/>
                <a:ext cx="6350000" cy="4762500"/>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3">
                <a:extLst>
                  <a:ext uri="{FF2B5EF4-FFF2-40B4-BE49-F238E27FC236}">
                    <a16:creationId xmlns:a16="http://schemas.microsoft.com/office/drawing/2014/main" id="{8B86E03A-69EE-85B7-3816-97E6070BFD79}"/>
                  </a:ext>
                </a:extLst>
              </p:cNvPr>
              <p:cNvSpPr/>
              <p:nvPr/>
            </p:nvSpPr>
            <p:spPr>
              <a:xfrm>
                <a:off x="2462646" y="706581"/>
                <a:ext cx="7266708" cy="5444837"/>
              </a:xfrm>
              <a:prstGeom prst="roundRect">
                <a:avLst>
                  <a:gd name="adj" fmla="val 3944"/>
                </a:avLst>
              </a:prstGeom>
              <a:noFill/>
              <a:ln w="127000">
                <a:solidFill>
                  <a:srgbClr val="C8DF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Rounded Rectangle 5">
              <a:extLst>
                <a:ext uri="{FF2B5EF4-FFF2-40B4-BE49-F238E27FC236}">
                  <a16:creationId xmlns:a16="http://schemas.microsoft.com/office/drawing/2014/main" id="{64FD0579-F181-BE54-447D-5415E73602A4}"/>
                </a:ext>
              </a:extLst>
            </p:cNvPr>
            <p:cNvSpPr/>
            <p:nvPr/>
          </p:nvSpPr>
          <p:spPr>
            <a:xfrm>
              <a:off x="2921000" y="1047751"/>
              <a:ext cx="6350000" cy="4762500"/>
            </a:xfrm>
            <a:prstGeom prst="roundRect">
              <a:avLst>
                <a:gd name="adj" fmla="val 4338"/>
              </a:avLst>
            </a:prstGeom>
            <a:noFill/>
            <a:ln w="190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12845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527</TotalTime>
  <Words>2944</Words>
  <Application>Microsoft Macintosh PowerPoint</Application>
  <PresentationFormat>Widescreen</PresentationFormat>
  <Paragraphs>266</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Teaching that Sticks</Company>
  <LinksUpToDate>false</LinksUpToDate>
  <SharedDoc>false</SharedDoc>
  <HyperlinkBase>https://teaching-that-sticks.github.io/</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Death by PowerPoint?</dc:title>
  <dc:subject/>
  <dc:creator>Robinson, Adrian J</dc:creator>
  <cp:keywords/>
  <dc:description/>
  <cp:lastModifiedBy>Robinson, Adrian J</cp:lastModifiedBy>
  <cp:revision>96</cp:revision>
  <cp:lastPrinted>2026-06-02T11:51:51Z</cp:lastPrinted>
  <dcterms:created xsi:type="dcterms:W3CDTF">2026-06-01T17:34:48Z</dcterms:created>
  <dcterms:modified xsi:type="dcterms:W3CDTF">2026-06-03T05:18:05Z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5e1b534-098f-4ac8-9223-69712ddf82de_Enabled">
    <vt:lpwstr>true</vt:lpwstr>
  </property>
  <property fmtid="{D5CDD505-2E9C-101B-9397-08002B2CF9AE}" pid="3" name="MSIP_Label_55e1b534-098f-4ac8-9223-69712ddf82de_SetDate">
    <vt:lpwstr>2026-06-01T17:43:35Z</vt:lpwstr>
  </property>
  <property fmtid="{D5CDD505-2E9C-101B-9397-08002B2CF9AE}" pid="4" name="MSIP_Label_55e1b534-098f-4ac8-9223-69712ddf82de_Method">
    <vt:lpwstr>Standard</vt:lpwstr>
  </property>
  <property fmtid="{D5CDD505-2E9C-101B-9397-08002B2CF9AE}" pid="5" name="MSIP_Label_55e1b534-098f-4ac8-9223-69712ddf82de_Name">
    <vt:lpwstr>Public Document</vt:lpwstr>
  </property>
  <property fmtid="{D5CDD505-2E9C-101B-9397-08002B2CF9AE}" pid="6" name="MSIP_Label_55e1b534-098f-4ac8-9223-69712ddf82de_SiteId">
    <vt:lpwstr>c9ef029c-18cf-4016-86d3-93cf8e94ff94</vt:lpwstr>
  </property>
  <property fmtid="{D5CDD505-2E9C-101B-9397-08002B2CF9AE}" pid="7" name="MSIP_Label_55e1b534-098f-4ac8-9223-69712ddf82de_ActionId">
    <vt:lpwstr>f7fa6d16-3ce6-40a6-bc93-1c5d70f5f37d</vt:lpwstr>
  </property>
  <property fmtid="{D5CDD505-2E9C-101B-9397-08002B2CF9AE}" pid="8" name="MSIP_Label_55e1b534-098f-4ac8-9223-69712ddf82de_ContentBits">
    <vt:lpwstr>0</vt:lpwstr>
  </property>
  <property fmtid="{D5CDD505-2E9C-101B-9397-08002B2CF9AE}" pid="9" name="MSIP_Label_55e1b534-098f-4ac8-9223-69712ddf82de_Tag">
    <vt:lpwstr>50, 3, 0, 1</vt:lpwstr>
  </property>
</Properties>
</file>